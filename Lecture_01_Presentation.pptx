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6"/>
  </p:normalViewPr>
  <p:slideViewPr>
    <p:cSldViewPr snapToGrid="0" snapToObjects="1">
      <p:cViewPr varScale="1">
        <p:scale>
          <a:sx n="93" d="100"/>
          <a:sy n="93" d="100"/>
        </p:scale>
        <p:origin x="7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D54A5-E30D-C043-B6EA-0485B7C26D7C}" type="datetimeFigureOut">
              <a:rPr lang="en-EG" smtClean="0"/>
              <a:t>26/09/2026</a:t>
            </a:fld>
            <a:endParaRPr lang="en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F2FEB-7932-ED40-B18B-E87D4717D86B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4875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 links:</a:t>
            </a:r>
          </a:p>
          <a:p>
            <a:r>
              <a:t>https://www.ftc.gov/enforcement/refunds/equifax-data-breach-settlement</a:t>
            </a:r>
          </a:p>
          <a:p>
            <a:r>
              <a:t>https://news.apache.org/foundation/entry/apache-struts-statement-on-equifax</a:t>
            </a:r>
          </a:p>
          <a:p>
            <a:r>
              <a:t>https://www.cisa.gov/eviction-strategies-tool/dialog-content/TMPL0002</a:t>
            </a:r>
          </a:p>
          <a:p>
            <a:r>
              <a:t>https://attack.mitre.org/campaigns/C0024/</a:t>
            </a:r>
          </a:p>
          <a:p>
            <a:r>
              <a:t>https://www.nao.org.uk/reports/investigation-wannacry-cyber-attack-and-the-nhs/</a:t>
            </a:r>
          </a:p>
          <a:p>
            <a:r>
              <a:t>https://www.cisa.gov/news-events/news/attack-colonial-pipeline-what-weve-learned-what-weve-done-over-past-two-years</a:t>
            </a:r>
          </a:p>
          <a:p>
            <a:r>
              <a:t>https://www.energy.gov/ceser/colonial-pipeline-cyber-incident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4663440"/>
            <a:ext cx="914400" cy="914400"/>
          </a:xfrm>
          <a:prstGeom prst="ellipse">
            <a:avLst/>
          </a:prstGeom>
          <a:solidFill>
            <a:srgbClr val="24B7EE"/>
          </a:solidFill>
          <a:ln>
            <a:solidFill>
              <a:srgbClr val="24B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" y="5166360"/>
            <a:ext cx="1280160" cy="1280160"/>
          </a:xfrm>
          <a:prstGeom prst="ellipse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914400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200" b="1">
                <a:solidFill>
                  <a:srgbClr val="24B7EE"/>
                </a:solidFill>
                <a:latin typeface="Aptos"/>
              </a:defRPr>
            </a:pPr>
            <a:r>
              <a:t>LECTURE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241280" cy="10972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Introduction to Information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731520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Prepared by Dr. Gehad Taher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8:55 AM — The University Is Under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COLD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Interactive opening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6984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101930"/>
                </a:solidFill>
                <a:latin typeface="Aptos"/>
              </a:defRPr>
            </a:pPr>
            <a:r>
              <a:t>Final examination starts in five minutes.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65960"/>
            <a:ext cx="594360" cy="59436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1874519"/>
            <a:ext cx="9052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83080" y="1874519"/>
            <a:ext cx="91440" cy="841248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93392" y="2011679"/>
            <a:ext cx="8705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8:55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2432303"/>
            <a:ext cx="868680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Students cannot open the exam portal.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8:55 AM — The University Is Under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COLD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Interactive opening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6984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101930"/>
                </a:solidFill>
                <a:latin typeface="Aptos"/>
              </a:defRPr>
            </a:pPr>
            <a:r>
              <a:t>Final examination starts in five minutes.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65960"/>
            <a:ext cx="594360" cy="59436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1874519"/>
            <a:ext cx="9052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83080" y="1874519"/>
            <a:ext cx="91440" cy="841248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93392" y="2011679"/>
            <a:ext cx="8705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8:55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2432303"/>
            <a:ext cx="868680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Students cannot open the exam portal.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017520"/>
            <a:ext cx="594360" cy="59436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18211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2926079"/>
            <a:ext cx="9052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83080" y="2926079"/>
            <a:ext cx="91440" cy="841248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93392" y="3063239"/>
            <a:ext cx="8705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9:00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3483863"/>
            <a:ext cx="868680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A ransom message appears on administrator screens.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8:55 AM — The University Is Under Attack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COLD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Interactive opening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78992"/>
            <a:ext cx="106984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101930"/>
                </a:solidFill>
                <a:latin typeface="Aptos"/>
              </a:defRPr>
            </a:pPr>
            <a:r>
              <a:t>Final examination starts in five minutes.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65960"/>
            <a:ext cx="594360" cy="59436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3055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1874519"/>
            <a:ext cx="9052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83080" y="1874519"/>
            <a:ext cx="91440" cy="841248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93392" y="2011679"/>
            <a:ext cx="8705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8:55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2432303"/>
            <a:ext cx="868680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Students cannot open the exam portal.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017520"/>
            <a:ext cx="594360" cy="59436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18211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2926079"/>
            <a:ext cx="9052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83080" y="2926079"/>
            <a:ext cx="91440" cy="841248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93392" y="3063239"/>
            <a:ext cx="8705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9:00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2" y="3483863"/>
            <a:ext cx="868680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A ransom message appears on administrator screens.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" y="4069079"/>
            <a:ext cx="594360" cy="594360"/>
          </a:xfrm>
          <a:prstGeom prst="ellipse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233671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3977639"/>
            <a:ext cx="905256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783080" y="3977639"/>
            <a:ext cx="91440" cy="841248"/>
          </a:xfrm>
          <a:prstGeom prst="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93392" y="4114800"/>
            <a:ext cx="8705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9:05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4535424"/>
            <a:ext cx="868680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A rumor claims student records were stolen.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30368"/>
            <a:ext cx="1033272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800" b="1">
                <a:solidFill>
                  <a:srgbClr val="101930"/>
                </a:solidFill>
                <a:latin typeface="Aptos"/>
              </a:defRPr>
            </a:pPr>
            <a:r>
              <a:t>Think–Pair–Share: What failed? What evidence do you need before deciding?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Prediction 1 — Which Objective Failed First?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LIVE POLL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300" b="1">
                <a:solidFill>
                  <a:srgbClr val="101930"/>
                </a:solidFill>
                <a:latin typeface="Aptos"/>
              </a:defRPr>
            </a:pPr>
            <a:r>
              <a:t>Students cannot access the exam portal when the examination begins.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A. Confidentiality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B.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C.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D. Non-repudiation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500" b="1">
                <a:solidFill>
                  <a:srgbClr val="713EB5"/>
                </a:solidFill>
                <a:latin typeface="Aptos"/>
              </a:defRPr>
            </a:pPr>
            <a:r>
              <a:t>Vote first. Do not reveal the answer yet.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Prediction 1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LIVE POLL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6400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300" b="1">
                <a:solidFill>
                  <a:srgbClr val="101930"/>
                </a:solidFill>
                <a:latin typeface="Aptos"/>
              </a:defRPr>
            </a:pPr>
            <a:r>
              <a:t>Students cannot access the exam portal when the examination begins.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A. Confidentiality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B.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074920" cy="80467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C.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D. Non-repudiation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21808"/>
            <a:ext cx="10332720" cy="5486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700" b="1">
                <a:solidFill>
                  <a:srgbClr val="101930"/>
                </a:solidFill>
                <a:latin typeface="Aptos"/>
              </a:defRPr>
            </a:pPr>
            <a:r>
              <a:t>Availability failed first. Confidentiality and integrity may also be at risk, but require evidence.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Roadmap: A Guided Security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crypto_ebook.pdf — pp. 13–29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078992"/>
            <a:ext cx="594360" cy="59436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43584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19" y="1078992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17319" y="1078992"/>
            <a:ext cx="91440" cy="658368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27631" y="1216151"/>
            <a:ext cx="4133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Cold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1" y="1636776"/>
            <a:ext cx="4114800" cy="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09360" y="1078992"/>
            <a:ext cx="594360" cy="594360"/>
          </a:xfrm>
          <a:prstGeom prst="ellipse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243584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078992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1078992"/>
            <a:ext cx="91440" cy="658368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96912" y="1216151"/>
            <a:ext cx="4133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CIA investigation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1636776"/>
            <a:ext cx="4114800" cy="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080" y="2286000"/>
            <a:ext cx="594360" cy="59436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45059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19" y="2286000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17319" y="2286000"/>
            <a:ext cx="91440" cy="658368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27631" y="2423160"/>
            <a:ext cx="4133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Identity &amp; attacks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1" y="2843784"/>
            <a:ext cx="4114800" cy="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endParaRPr/>
          </a:p>
        </p:txBody>
      </p:sp>
      <p:sp>
        <p:nvSpPr>
          <p:cNvPr id="27" name="Oval 26"/>
          <p:cNvSpPr/>
          <p:nvPr/>
        </p:nvSpPr>
        <p:spPr>
          <a:xfrm>
            <a:off x="6309360" y="2286000"/>
            <a:ext cx="594360" cy="594360"/>
          </a:xfrm>
          <a:prstGeom prst="ellipse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245059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2286000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86600" y="2286000"/>
            <a:ext cx="91440" cy="658368"/>
          </a:xfrm>
          <a:prstGeom prst="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96912" y="2423160"/>
            <a:ext cx="4133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OSI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2843784"/>
            <a:ext cx="4114800" cy="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0080" y="3493008"/>
            <a:ext cx="594360" cy="59436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365760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7319" y="3493008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417319" y="3493008"/>
            <a:ext cx="91440" cy="658368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27631" y="3630168"/>
            <a:ext cx="4133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Real incidents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7631" y="4050792"/>
            <a:ext cx="4114800" cy="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09360" y="3493008"/>
            <a:ext cx="594360" cy="5943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365760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3493008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86600" y="3493008"/>
            <a:ext cx="91440" cy="658368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96912" y="3630168"/>
            <a:ext cx="4133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Team challenge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6912" y="4050792"/>
            <a:ext cx="4114800" cy="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0080" y="4700016"/>
            <a:ext cx="594360" cy="594360"/>
          </a:xfrm>
          <a:prstGeom prst="ellipse">
            <a:avLst/>
          </a:prstGeom>
          <a:solidFill>
            <a:srgbClr val="24B7EE"/>
          </a:solidFill>
          <a:ln>
            <a:solidFill>
              <a:srgbClr val="24B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4864607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17319" y="4700016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417319" y="4700016"/>
            <a:ext cx="91440" cy="658368"/>
          </a:xfrm>
          <a:prstGeom prst="rect">
            <a:avLst/>
          </a:prstGeom>
          <a:solidFill>
            <a:srgbClr val="24B7EE"/>
          </a:solidFill>
          <a:ln>
            <a:solidFill>
              <a:srgbClr val="24B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627631" y="4837176"/>
            <a:ext cx="4133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B7EE"/>
                </a:solidFill>
                <a:latin typeface="Aptos"/>
              </a:defRPr>
            </a:pPr>
            <a:r>
              <a:t>Myth or fact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27631" y="5257800"/>
            <a:ext cx="4114800" cy="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endParaRPr/>
          </a:p>
        </p:txBody>
      </p:sp>
      <p:sp>
        <p:nvSpPr>
          <p:cNvPr id="51" name="Oval 50"/>
          <p:cNvSpPr/>
          <p:nvPr/>
        </p:nvSpPr>
        <p:spPr>
          <a:xfrm>
            <a:off x="6309360" y="4700016"/>
            <a:ext cx="594360" cy="594360"/>
          </a:xfrm>
          <a:prstGeom prst="ellipse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60" y="4864607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86600" y="4700016"/>
            <a:ext cx="4480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086600" y="4700016"/>
            <a:ext cx="91440" cy="65836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296912" y="4837176"/>
            <a:ext cx="4133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101930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96912" y="5257800"/>
            <a:ext cx="4114800" cy="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Information Security: People, Process,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crypto_ebook.pdf — pp. 14–15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300" b="1">
                <a:solidFill>
                  <a:srgbClr val="101930"/>
                </a:solidFill>
                <a:latin typeface="Aptos"/>
              </a:defRPr>
            </a:pPr>
            <a:r>
              <a:t>Protect information and systems from unauthorized access, misuse, disclosure, modification, destruction, or disruption.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91440" cy="242316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468879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89503"/>
            <a:ext cx="3108960" cy="17647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Awareness • responsibility • ethics • insider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33172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2331720"/>
            <a:ext cx="91440" cy="242316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2468879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889503"/>
            <a:ext cx="3108960" cy="17647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Policy • risk • incident response •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33172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331720"/>
            <a:ext cx="91440" cy="2423160"/>
          </a:xfrm>
          <a:prstGeom prst="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9912" y="2468879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889503"/>
            <a:ext cx="3108960" cy="17647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Systems • networks • cloud • cryptography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000" b="1">
                <a:solidFill>
                  <a:srgbClr val="D32F2F"/>
                </a:solidFill>
                <a:latin typeface="Aptos"/>
              </a:defRPr>
            </a:pPr>
            <a:r>
              <a:t>Security is a coordinated system—not one product.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Meet the CIA Security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CIA TRIAD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crypto_ebook.pdf — pp. 15–17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2011680" y="1097280"/>
            <a:ext cx="594360" cy="594360"/>
          </a:xfrm>
          <a:prstGeom prst="ellipse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126187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874519"/>
            <a:ext cx="3520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874519"/>
            <a:ext cx="91440" cy="315468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011679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Confidentiality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32303"/>
            <a:ext cx="3154680" cy="24963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The Gatekeeper</a:t>
            </a:r>
            <a:br/>
            <a:br/>
            <a:r>
              <a:t>Controls who may see information.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1097280"/>
            <a:ext cx="594360" cy="59436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126187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874519"/>
            <a:ext cx="3520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1874519"/>
            <a:ext cx="91440" cy="315468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2011679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432303"/>
            <a:ext cx="3154680" cy="24963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The Guardian</a:t>
            </a:r>
            <a:br/>
            <a:br/>
            <a:r>
              <a:t>Keeps information accurate and trustworthy.</a:t>
            </a:r>
          </a:p>
        </p:txBody>
      </p:sp>
      <p:sp>
        <p:nvSpPr>
          <p:cNvPr id="21" name="Oval 20"/>
          <p:cNvSpPr/>
          <p:nvPr/>
        </p:nvSpPr>
        <p:spPr>
          <a:xfrm>
            <a:off x="9692640" y="1097280"/>
            <a:ext cx="594360" cy="59436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26187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1874519"/>
            <a:ext cx="3520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75320" y="1874519"/>
            <a:ext cx="91440" cy="315468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85632" y="2011679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2432303"/>
            <a:ext cx="3154680" cy="249631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The Responder</a:t>
            </a:r>
            <a:br/>
            <a:br/>
            <a:r>
              <a:t>Keeps systems accessible when required.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CIA Triad: Data States and Control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CIA DEEP 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Chapter 1 + instructor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8872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188720"/>
            <a:ext cx="91440" cy="3977639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32588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Confidentiality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746504"/>
            <a:ext cx="3154680" cy="3319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At rest • in transit • in use</a:t>
            </a:r>
            <a:br/>
            <a:r>
              <a:t>Classify, restrict, encrypt, monitor, dispose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18872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188720"/>
            <a:ext cx="91440" cy="3977639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32588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746504"/>
            <a:ext cx="3154680" cy="3319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Input • processing • storage • output</a:t>
            </a:r>
            <a:br/>
            <a:r>
              <a:t>Prevent, detect, trace, restore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18872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188720"/>
            <a:ext cx="91440" cy="3977639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132588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1746504"/>
            <a:ext cx="3154680" cy="3319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Prepare • withstand • detect • recover</a:t>
            </a:r>
            <a:br/>
            <a:r>
              <a:t>Redundancy, monitoring, backups,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700" b="1">
                <a:solidFill>
                  <a:srgbClr val="101930"/>
                </a:solidFill>
                <a:latin typeface="Aptos"/>
              </a:defRPr>
            </a:pPr>
            <a:r>
              <a:t>Question for every asset: Who can see it? Who can change it? When must it be available?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Mariam’s Portal Story — Confidentiality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RUNNING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university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15568"/>
            <a:ext cx="594360" cy="594360"/>
          </a:xfrm>
          <a:prstGeom prst="ellipse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9264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200" b="1">
                <a:solidFill>
                  <a:srgbClr val="101930"/>
                </a:solidFill>
                <a:latin typeface="Aptos"/>
              </a:defRPr>
            </a:pPr>
            <a:r>
              <a:t>Mariam submits an assignment. Another student reads it without permission.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423160"/>
            <a:ext cx="2651760" cy="0"/>
          </a:xfrm>
          <a:prstGeom prst="line">
            <a:avLst/>
          </a:prstGeom>
          <a:ln w="25400">
            <a:solidFill>
              <a:srgbClr val="245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423160"/>
            <a:ext cx="2606041" cy="0"/>
          </a:xfrm>
          <a:prstGeom prst="line">
            <a:avLst/>
          </a:prstGeom>
          <a:ln w="25400">
            <a:solidFill>
              <a:srgbClr val="245D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91440" cy="210312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Mariam submits an assignment. Another student reads it without permission.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834640"/>
            <a:ext cx="91440" cy="210312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Security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Unauthorized disclosure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9872" y="2834640"/>
            <a:ext cx="91440" cy="2103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4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Suitable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Access control, secure sharing, encryption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600" b="1">
                <a:solidFill>
                  <a:srgbClr val="713EB5"/>
                </a:solidFill>
                <a:latin typeface="Aptos"/>
              </a:defRPr>
            </a:pPr>
            <a:r>
              <a:t>Student prompt: identify the asset, threat, vulnerability, attack, and impact.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Mariam’s Portal Story —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RUNNING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university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15568"/>
            <a:ext cx="594360" cy="59436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9264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200" b="1">
                <a:solidFill>
                  <a:srgbClr val="101930"/>
                </a:solidFill>
                <a:latin typeface="Aptos"/>
              </a:defRPr>
            </a:pPr>
            <a:r>
              <a:t>An attacker changes Mariam’s submitted file before grading.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423160"/>
            <a:ext cx="2651760" cy="0"/>
          </a:xfrm>
          <a:prstGeom prst="line">
            <a:avLst/>
          </a:prstGeom>
          <a:ln w="25400">
            <a:solidFill>
              <a:srgbClr val="00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423160"/>
            <a:ext cx="2606041" cy="0"/>
          </a:xfrm>
          <a:prstGeom prst="line">
            <a:avLst/>
          </a:prstGeom>
          <a:ln w="25400">
            <a:solidFill>
              <a:srgbClr val="00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91440" cy="210312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An attacker changes Mariam’s submitted file before grading.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834640"/>
            <a:ext cx="91440" cy="210312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Security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Unauthorized modification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9872" y="2834640"/>
            <a:ext cx="91440" cy="2103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4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Suitable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Hashes/MACs, signatures, versioning, audit 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600" b="1">
                <a:solidFill>
                  <a:srgbClr val="713EB5"/>
                </a:solidFill>
                <a:latin typeface="Aptos"/>
              </a:defRPr>
            </a:pPr>
            <a:r>
              <a:t>Student prompt: identify the asset, threat, vulnerability, attack, and impact.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Mariam’s Portal Story —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RUNNING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university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15568"/>
            <a:ext cx="594360" cy="59436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9264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200" b="1">
                <a:solidFill>
                  <a:srgbClr val="101930"/>
                </a:solidFill>
                <a:latin typeface="Aptos"/>
              </a:defRPr>
            </a:pPr>
            <a:r>
              <a:t>The portal goes offline one minute before the deadline.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423160"/>
            <a:ext cx="2651760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423160"/>
            <a:ext cx="2606041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91440" cy="210312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The portal goes offline one minute before the deadline.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834640"/>
            <a:ext cx="91440" cy="210312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Security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Service unavailable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9872" y="2834640"/>
            <a:ext cx="91440" cy="2103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4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Suitable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Redundancy, capacity, monitoring, tested 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600" b="1">
                <a:solidFill>
                  <a:srgbClr val="713EB5"/>
                </a:solidFill>
                <a:latin typeface="Aptos"/>
              </a:defRPr>
            </a:pPr>
            <a:r>
              <a:t>Student prompt: identify the asset, threat, vulnerability, attack, and impact.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Mariam’s Portal Story —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RUNNING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university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15568"/>
            <a:ext cx="594360" cy="594360"/>
          </a:xfrm>
          <a:prstGeom prst="ellipse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9264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200" b="1">
                <a:solidFill>
                  <a:srgbClr val="101930"/>
                </a:solidFill>
                <a:latin typeface="Aptos"/>
              </a:defRPr>
            </a:pPr>
            <a:r>
              <a:t>An attacker logs in using Mariam’s stolen password.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423160"/>
            <a:ext cx="2651760" cy="0"/>
          </a:xfrm>
          <a:prstGeom prst="line">
            <a:avLst/>
          </a:prstGeom>
          <a:ln w="25400">
            <a:solidFill>
              <a:srgbClr val="713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423160"/>
            <a:ext cx="2606041" cy="0"/>
          </a:xfrm>
          <a:prstGeom prst="line">
            <a:avLst/>
          </a:prstGeom>
          <a:ln w="25400">
            <a:solidFill>
              <a:srgbClr val="713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91440" cy="2103120"/>
          </a:xfrm>
          <a:prstGeom prst="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An attacker logs in using Mariam’s stolen password.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834640"/>
            <a:ext cx="91440" cy="210312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Security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Identity not reliably verified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9872" y="2834640"/>
            <a:ext cx="91440" cy="2103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4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Suitable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MFA, phishing-resistant authentication,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600" b="1">
                <a:solidFill>
                  <a:srgbClr val="713EB5"/>
                </a:solidFill>
                <a:latin typeface="Aptos"/>
              </a:defRPr>
            </a:pPr>
            <a:r>
              <a:t>Student prompt: identify the asset, threat, vulnerability, attack, and impact.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Mariam’s Portal Story —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RUNNING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university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15568"/>
            <a:ext cx="594360" cy="59436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9264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200" b="1">
                <a:solidFill>
                  <a:srgbClr val="101930"/>
                </a:solidFill>
                <a:latin typeface="Aptos"/>
              </a:defRPr>
            </a:pPr>
            <a:r>
              <a:t>Mariam can open the instructor grade-management page.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423160"/>
            <a:ext cx="2651760" cy="0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423160"/>
            <a:ext cx="2606041" cy="0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91440" cy="210312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Mariam can open the instructor grade-management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834640"/>
            <a:ext cx="91440" cy="210312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Security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Excessive permission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9872" y="2834640"/>
            <a:ext cx="91440" cy="2103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4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Suitable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Roles, least privilege, access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600" b="1">
                <a:solidFill>
                  <a:srgbClr val="713EB5"/>
                </a:solidFill>
                <a:latin typeface="Aptos"/>
              </a:defRPr>
            </a:pPr>
            <a:r>
              <a:t>Student prompt: identify the asset, threat, vulnerability, attack, and impact.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Mariam’s Portal Story —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RUNNING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university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15568"/>
            <a:ext cx="594360" cy="5943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8016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9264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200" b="1">
                <a:solidFill>
                  <a:srgbClr val="101930"/>
                </a:solidFill>
                <a:latin typeface="Aptos"/>
              </a:defRPr>
            </a:pPr>
            <a:r>
              <a:t>A grade changes, but the system has no reliable audit log.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423160"/>
            <a:ext cx="265176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423160"/>
            <a:ext cx="2606041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834640"/>
            <a:ext cx="91440" cy="2103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A grade changes, but the system has no reliable audit log.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834640"/>
            <a:ext cx="91440" cy="210312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Security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Action cannot be traced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283464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9872" y="2834640"/>
            <a:ext cx="91440" cy="21031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4" y="297180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Suitable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392424"/>
            <a:ext cx="3108960" cy="1444751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Unique accounts, protected logs, timestamps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600" b="1">
                <a:solidFill>
                  <a:srgbClr val="713EB5"/>
                </a:solidFill>
                <a:latin typeface="Aptos"/>
              </a:defRPr>
            </a:pPr>
            <a:r>
              <a:t>Student prompt: identify the asset, threat, vulnerability, attack, and impact.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Spot the Vulnerabilities — 60-Second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VISUAL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fictional security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78992"/>
            <a:ext cx="11155680" cy="5074920"/>
          </a:xfrm>
          <a:prstGeom prst="rect">
            <a:avLst/>
          </a:prstGeom>
          <a:solidFill>
            <a:srgbClr val="E8EEF6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4251960"/>
            <a:ext cx="2743200" cy="201168"/>
          </a:xfrm>
          <a:prstGeom prst="rect">
            <a:avLst/>
          </a:prstGeom>
          <a:solidFill>
            <a:srgbClr val="646E82"/>
          </a:solidFill>
          <a:ln>
            <a:solidFill>
              <a:srgbClr val="64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08760" y="2331720"/>
            <a:ext cx="1508760" cy="1143000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9344" y="2697480"/>
            <a:ext cx="1298448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D32F2F"/>
                </a:solidFill>
                <a:latin typeface="Aptos"/>
              </a:defRPr>
            </a:pPr>
            <a:r>
              <a:t>UNLOCKED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251960"/>
            <a:ext cx="2743200" cy="201168"/>
          </a:xfrm>
          <a:prstGeom prst="rect">
            <a:avLst/>
          </a:prstGeom>
          <a:solidFill>
            <a:srgbClr val="646E82"/>
          </a:solidFill>
          <a:ln>
            <a:solidFill>
              <a:srgbClr val="64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0" y="2331720"/>
            <a:ext cx="1508760" cy="1143000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9744" y="2697480"/>
            <a:ext cx="1298448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D32F2F"/>
                </a:solidFill>
                <a:latin typeface="Aptos"/>
              </a:defRPr>
            </a:pPr>
            <a:r>
              <a:t>UNLOCKED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251960"/>
            <a:ext cx="2743200" cy="201168"/>
          </a:xfrm>
          <a:prstGeom prst="rect">
            <a:avLst/>
          </a:prstGeom>
          <a:solidFill>
            <a:srgbClr val="646E82"/>
          </a:solidFill>
          <a:ln>
            <a:solidFill>
              <a:srgbClr val="646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2331720"/>
            <a:ext cx="1508760" cy="1143000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10144" y="2697480"/>
            <a:ext cx="1298448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D32F2F"/>
                </a:solidFill>
                <a:latin typeface="Aptos"/>
              </a:defRPr>
            </a:pPr>
            <a:r>
              <a:t>UNLOCKED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325880"/>
            <a:ext cx="2286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1325880"/>
            <a:ext cx="91440" cy="68580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1463039"/>
            <a:ext cx="193852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Sticky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1883664"/>
            <a:ext cx="1920240" cy="274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r>
              <a:t>Password: Exam@123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1325880"/>
            <a:ext cx="2286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83280" y="1325880"/>
            <a:ext cx="91440" cy="685800"/>
          </a:xfrm>
          <a:prstGeom prst="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93592" y="1463039"/>
            <a:ext cx="193852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Unknown USB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1883664"/>
            <a:ext cx="1920240" cy="274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r>
              <a:t>“Grades_Final”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1325880"/>
            <a:ext cx="2286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89320" y="1325880"/>
            <a:ext cx="91440" cy="68580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1463039"/>
            <a:ext cx="193852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Cloud 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1883664"/>
            <a:ext cx="1920240" cy="274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r>
              <a:t>Anyone can 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1325880"/>
            <a:ext cx="2286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595360" y="1325880"/>
            <a:ext cx="91440" cy="68580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05672" y="1463039"/>
            <a:ext cx="193852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Printer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5672" y="1883664"/>
            <a:ext cx="1920240" cy="274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100" b="0">
                <a:solidFill>
                  <a:srgbClr val="232A39"/>
                </a:solidFill>
                <a:latin typeface="Aptos"/>
              </a:defRPr>
            </a:pPr>
            <a:r>
              <a:t>Student records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800600"/>
            <a:ext cx="10652760" cy="5943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600" b="1">
                <a:solidFill>
                  <a:srgbClr val="101930"/>
                </a:solidFill>
                <a:latin typeface="Aptos"/>
              </a:defRPr>
            </a:pPr>
            <a:r>
              <a:t>Find at least 8 risks: unlocked devices, visible password, untrusted USB, public link, exposed documents, shared account, missing updates, tailgating…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Prediction 2 —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LIVE POLL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Chapter 1 concept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52760" cy="9601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101930"/>
                </a:solidFill>
                <a:latin typeface="Aptos"/>
              </a:defRPr>
            </a:pPr>
            <a:r>
              <a:t>A student changes a grade but cannot read other records. Which primary property fails?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A. Confidentiality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B.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C.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D. Authentication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Prediction 2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LIVE POLL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Chapter 1 concept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52760" cy="9601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101930"/>
                </a:solidFill>
                <a:latin typeface="Aptos"/>
              </a:defRPr>
            </a:pPr>
            <a:r>
              <a:t>A student changes a grade but cannot read other records. Which primary property fails?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A. Confidentiality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971800"/>
            <a:ext cx="5074920" cy="80467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B.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C.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D. Authentication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Prediction 3 —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LIVE POLL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Chapter 1 concept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52760" cy="9601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101930"/>
                </a:solidFill>
                <a:latin typeface="Aptos"/>
              </a:defRPr>
            </a:pPr>
            <a:r>
              <a:t>An attacker studies timing and packet sizes of encrypted traffic. This is: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A. Masquerade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B. Traffic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C. Replay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D. DoS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Prediction 3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LIVE POLL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Chapter 1 concept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52760" cy="9601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101930"/>
                </a:solidFill>
                <a:latin typeface="Aptos"/>
              </a:defRPr>
            </a:pPr>
            <a:r>
              <a:t>An attacker studies timing and packet sizes of encrypted traffic. This is: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A. Masquerade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971800"/>
            <a:ext cx="5074920" cy="80467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B. Traffic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C. Replay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D. DoS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Prediction 4 —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LIVE POLL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Chapter 1 concept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52760" cy="9601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101930"/>
                </a:solidFill>
                <a:latin typeface="Aptos"/>
              </a:defRPr>
            </a:pPr>
            <a:r>
              <a:t>Password + authenticator code uses: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A. One factor twice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B. Two factor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C. Authorization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D. Non-repudiation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Prediction 4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LIVE POLL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Chapter 1 concept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10652760" cy="9601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101930"/>
                </a:solidFill>
                <a:latin typeface="Aptos"/>
              </a:defRPr>
            </a:pPr>
            <a:r>
              <a:t>Password + authenticator code uses: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A. One factor twice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971800"/>
            <a:ext cx="5074920" cy="804672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3200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B. Two factor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C. Authorization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11480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1" y="4343400"/>
            <a:ext cx="475488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1">
                <a:solidFill>
                  <a:srgbClr val="232A39"/>
                </a:solidFill>
                <a:latin typeface="Aptos"/>
              </a:defRPr>
            </a:pPr>
            <a:r>
              <a:t>D. Non-repudiation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Myth or Fact?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RAPID FIRE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Chapter 1 concept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91440" cy="1691640"/>
          </a:xfrm>
          <a:prstGeom prst="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280160"/>
            <a:ext cx="48188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Statement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00784"/>
            <a:ext cx="480060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Encryption alone makes a system fully secure.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91440" cy="169164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280160"/>
            <a:ext cx="48188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Statement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00784"/>
            <a:ext cx="480060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A backup guarantees availability.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9184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291840"/>
            <a:ext cx="91440" cy="169164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429000"/>
            <a:ext cx="48188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Statement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849624"/>
            <a:ext cx="480060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An authorized insider can still be a threat.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9184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291840"/>
            <a:ext cx="91440" cy="169164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429000"/>
            <a:ext cx="48188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Statement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849624"/>
            <a:ext cx="480060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Authentication and authorization mean the same thing.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600" b="1">
                <a:solidFill>
                  <a:srgbClr val="101930"/>
                </a:solidFill>
                <a:latin typeface="Aptos"/>
              </a:defRPr>
            </a:pPr>
            <a:r>
              <a:t>Students show M or F cards. Reveal answers on the next slide.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Myth or Fact? —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RAPID FIRE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Chapter 1 concept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91440" cy="169164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280160"/>
            <a:ext cx="48188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MYTH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00784"/>
            <a:ext cx="480060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Encryption does not fix weak identity, exposed keys, vulnerable software, or poor processes.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91440" cy="169164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280160"/>
            <a:ext cx="48188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00784"/>
            <a:ext cx="480060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Backups must be isolated, tested, and restorable within recovery objectives.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9184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291840"/>
            <a:ext cx="91440" cy="169164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429000"/>
            <a:ext cx="48188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849624"/>
            <a:ext cx="480060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Authorized access may be misused accidentally or intentionally.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9184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291840"/>
            <a:ext cx="91440" cy="169164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429000"/>
            <a:ext cx="48188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MYTH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849624"/>
            <a:ext cx="480060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Authentication verifies identity; authorization determines permissions.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Attack → Service →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OSI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crypto_ebook.pdf — pp. 20–25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91440" cy="196596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463039"/>
            <a:ext cx="2990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Attack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883664"/>
            <a:ext cx="2971800" cy="1307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0">
                <a:solidFill>
                  <a:srgbClr val="232A39"/>
                </a:solidFill>
                <a:latin typeface="Aptos"/>
              </a:defRPr>
            </a:pPr>
            <a:r>
              <a:t>What threatens the system?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2286000"/>
            <a:ext cx="411480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132588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325880"/>
            <a:ext cx="91440" cy="196596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1463039"/>
            <a:ext cx="2990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883664"/>
            <a:ext cx="2971800" cy="1307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0">
                <a:solidFill>
                  <a:srgbClr val="232A39"/>
                </a:solidFill>
                <a:latin typeface="Aptos"/>
              </a:defRPr>
            </a:pPr>
            <a:r>
              <a:t>What protection is required?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0" y="2286000"/>
            <a:ext cx="411479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83879" y="1325880"/>
            <a:ext cx="3337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83879" y="1325880"/>
            <a:ext cx="91440" cy="196596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1463039"/>
            <a:ext cx="299008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Mechanism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883664"/>
            <a:ext cx="2971800" cy="1307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0">
                <a:solidFill>
                  <a:srgbClr val="232A39"/>
                </a:solidFill>
                <a:latin typeface="Aptos"/>
              </a:defRPr>
            </a:pPr>
            <a:r>
              <a:t>How is protection provided?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10652760" cy="5486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100" b="1">
                <a:solidFill>
                  <a:srgbClr val="713EB5"/>
                </a:solidFill>
                <a:latin typeface="Aptos"/>
              </a:defRPr>
            </a:pPr>
            <a:r>
              <a:t>Unauthorized reading → confidentiality service → encryption mechanism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800" b="1">
                <a:solidFill>
                  <a:srgbClr val="101930"/>
                </a:solidFill>
                <a:latin typeface="Aptos"/>
              </a:defRPr>
            </a:pPr>
            <a:r>
              <a:t>Passive attacks observe. Active attacks impersonate, replay, modify, or disrupt.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Case File — Identify the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CASE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FTC; Apache Software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43000"/>
            <a:ext cx="594360" cy="59436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0759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0120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000" b="1">
                <a:solidFill>
                  <a:srgbClr val="101930"/>
                </a:solidFill>
                <a:latin typeface="Aptos"/>
              </a:defRPr>
            </a:pPr>
            <a:r>
              <a:t>A known web-framework vulnerability was not addressed effectively; sensitive personal data was exposed.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286000"/>
            <a:ext cx="4809744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What was the protected asset?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Which CIA objective was primary?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What vulnerability or trust assumption failed?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Which controls could prevent or limit impact?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40"/>
            <a:ext cx="5257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91440" cy="320040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2286000"/>
            <a:ext cx="491032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Do not reveal the case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706624"/>
            <a:ext cx="4892040" cy="2542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0">
                <a:solidFill>
                  <a:srgbClr val="232A39"/>
                </a:solidFill>
                <a:latin typeface="Aptos"/>
              </a:defRPr>
            </a:pPr>
            <a:r>
              <a:t>Teams have 90 seconds to agree on a CIA classification and two controls.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Case Reveal — Equifax (2017)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CASE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FTC; Apache Software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91440" cy="205740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A known web-framework vulnerability was not addressed effectively; sensitive personal data was exposed.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143000"/>
            <a:ext cx="91440" cy="2057400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101930"/>
                </a:solidFill>
                <a:latin typeface="Aptos"/>
              </a:defRPr>
            </a:pPr>
            <a:r>
              <a:t>Primary CIA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000" b="0">
                <a:solidFill>
                  <a:srgbClr val="232A39"/>
                </a:solidFill>
                <a:latin typeface="Aptos"/>
              </a:defRPr>
            </a:pPr>
            <a:r>
              <a:t>Confidentiality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143000"/>
            <a:ext cx="91440" cy="2057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Priority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Asset inventory, rapid patching, segmentation, exfiltration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800" b="1">
                <a:solidFill>
                  <a:srgbClr val="713EB5"/>
                </a:solidFill>
                <a:latin typeface="Aptos"/>
              </a:defRPr>
            </a:pPr>
            <a:r>
              <a:t>Discussion: What secondary CIA effects and organizational consequences followed?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63440"/>
            <a:ext cx="2240280" cy="658368"/>
          </a:xfrm>
          <a:prstGeom prst="round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Weakness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38728" y="4663440"/>
            <a:ext cx="2240280" cy="658368"/>
          </a:xfrm>
          <a:prstGeom prst="round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8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Attack path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79008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0216" y="4663440"/>
            <a:ext cx="2240280" cy="658368"/>
          </a:xfrm>
          <a:prstGeom prst="round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6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Operational impact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40496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61704" y="4663440"/>
            <a:ext cx="2240280" cy="65836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61704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Lessons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Case File — Identify the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CASE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CISA; MITRE ATT&amp;CK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43000"/>
            <a:ext cx="594360" cy="59436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0759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0120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000" b="1">
                <a:solidFill>
                  <a:srgbClr val="101930"/>
                </a:solidFill>
                <a:latin typeface="Aptos"/>
              </a:defRPr>
            </a:pPr>
            <a:r>
              <a:t>Malicious code entered a software build and was distributed through a legitimate update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286000"/>
            <a:ext cx="4809744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What was the protected asset?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Which CIA objective was primary?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What vulnerability or trust assumption failed?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Which controls could prevent or limit impact?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40"/>
            <a:ext cx="5257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91440" cy="320040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2286000"/>
            <a:ext cx="491032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Do not reveal the case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706624"/>
            <a:ext cx="4892040" cy="2542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0">
                <a:solidFill>
                  <a:srgbClr val="232A39"/>
                </a:solidFill>
                <a:latin typeface="Aptos"/>
              </a:defRPr>
            </a:pPr>
            <a:r>
              <a:t>Teams have 90 seconds to agree on a CIA classification and two controls.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Case Reveal — SolarWinds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CASE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CISA; MITRE ATT&amp;CK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91440" cy="205740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Malicious code entered a software build and was distributed through a legitimate update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143000"/>
            <a:ext cx="91440" cy="2057400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101930"/>
                </a:solidFill>
                <a:latin typeface="Aptos"/>
              </a:defRPr>
            </a:pPr>
            <a:r>
              <a:t>Primary CIA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000" b="0">
                <a:solidFill>
                  <a:srgbClr val="232A39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143000"/>
            <a:ext cx="91440" cy="2057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Priority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Secure build pipeline, signing-key protection, provenance, identity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800" b="1">
                <a:solidFill>
                  <a:srgbClr val="713EB5"/>
                </a:solidFill>
                <a:latin typeface="Aptos"/>
              </a:defRPr>
            </a:pPr>
            <a:r>
              <a:t>Discussion: What secondary CIA effects and organizational consequences followed?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63440"/>
            <a:ext cx="2240280" cy="658368"/>
          </a:xfrm>
          <a:prstGeom prst="round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Weakness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38728" y="4663440"/>
            <a:ext cx="2240280" cy="658368"/>
          </a:xfrm>
          <a:prstGeom prst="round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8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Attack path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79008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0216" y="4663440"/>
            <a:ext cx="2240280" cy="658368"/>
          </a:xfrm>
          <a:prstGeom prst="round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6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Operational impact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40496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61704" y="4663440"/>
            <a:ext cx="2240280" cy="65836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61704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Lessons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Case File — Identify the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CASE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UK National Audit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43000"/>
            <a:ext cx="594360" cy="59436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0759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0120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000" b="1">
                <a:solidFill>
                  <a:srgbClr val="101930"/>
                </a:solidFill>
                <a:latin typeface="Aptos"/>
              </a:defRPr>
            </a:pPr>
            <a:r>
              <a:t>Ransomware disrupted healthcare systems and cancelled appointments and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286000"/>
            <a:ext cx="4809744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What was the protected asset?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Which CIA objective was primary?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What vulnerability or trust assumption failed?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Which controls could prevent or limit impact?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40"/>
            <a:ext cx="5257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91440" cy="320040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2286000"/>
            <a:ext cx="491032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Do not reveal the case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706624"/>
            <a:ext cx="4892040" cy="2542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0">
                <a:solidFill>
                  <a:srgbClr val="232A39"/>
                </a:solidFill>
                <a:latin typeface="Aptos"/>
              </a:defRPr>
            </a:pPr>
            <a:r>
              <a:t>Teams have 90 seconds to agree on a CIA classification and two controls.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Case Reveal — WannaCry and the NHS (2017)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CASE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UK National Audit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91440" cy="205740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Ransomware disrupted healthcare systems and cancelled appointments and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143000"/>
            <a:ext cx="91440" cy="2057400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101930"/>
                </a:solidFill>
                <a:latin typeface="Aptos"/>
              </a:defRPr>
            </a:pPr>
            <a:r>
              <a:t>Primary CIA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000" b="0">
                <a:solidFill>
                  <a:srgbClr val="232A39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143000"/>
            <a:ext cx="91440" cy="2057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Priority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Patching, legacy isolation, segmentation, offline backups, tested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800" b="1">
                <a:solidFill>
                  <a:srgbClr val="713EB5"/>
                </a:solidFill>
                <a:latin typeface="Aptos"/>
              </a:defRPr>
            </a:pPr>
            <a:r>
              <a:t>Discussion: What secondary CIA effects and organizational consequences followed?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63440"/>
            <a:ext cx="2240280" cy="658368"/>
          </a:xfrm>
          <a:prstGeom prst="round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Weakness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38728" y="4663440"/>
            <a:ext cx="2240280" cy="658368"/>
          </a:xfrm>
          <a:prstGeom prst="round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8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Attack path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79008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0216" y="4663440"/>
            <a:ext cx="2240280" cy="658368"/>
          </a:xfrm>
          <a:prstGeom prst="round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6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Operational impact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40496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61704" y="4663440"/>
            <a:ext cx="2240280" cy="65836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61704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Lessons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Case File — Identify the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CASE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CISA; U.S. Department of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143000"/>
            <a:ext cx="594360" cy="594360"/>
          </a:xfrm>
          <a:prstGeom prst="ellipse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0759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170432"/>
            <a:ext cx="960120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000" b="1">
                <a:solidFill>
                  <a:srgbClr val="101930"/>
                </a:solidFill>
                <a:latin typeface="Aptos"/>
              </a:defRPr>
            </a:pPr>
            <a:r>
              <a:t>A ransomware incident led the company to halt pipeline operations before later restarting the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52120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286000"/>
            <a:ext cx="4809744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What was the protected asset?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Which CIA objective was primary?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What vulnerability or trust assumption failed?</a:t>
            </a:r>
          </a:p>
          <a:p>
            <a:pPr>
              <a:spcAft>
                <a:spcPts val="700"/>
              </a:spcAft>
              <a:defRPr sz="1500">
                <a:solidFill>
                  <a:srgbClr val="232A39"/>
                </a:solidFill>
                <a:latin typeface="Aptos"/>
              </a:defRPr>
            </a:pPr>
            <a:r>
              <a:t>Which controls could prevent or limit impact?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40"/>
            <a:ext cx="52578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91440" cy="320040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2286000"/>
            <a:ext cx="491032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Do not reveal the case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706624"/>
            <a:ext cx="4892040" cy="2542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600" b="0">
                <a:solidFill>
                  <a:srgbClr val="232A39"/>
                </a:solidFill>
                <a:latin typeface="Aptos"/>
              </a:defRPr>
            </a:pPr>
            <a:r>
              <a:t>Teams have 90 seconds to agree on a CIA classification and two controls.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Case Reveal — Colonial Pipeline (2021)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CASE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CISA; U.S. Department of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91440" cy="205740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What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A ransomware incident led the company to halt pipeline operations before later restarting the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143000"/>
            <a:ext cx="91440" cy="2057400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101930"/>
                </a:solidFill>
                <a:latin typeface="Aptos"/>
              </a:defRPr>
            </a:pPr>
            <a:r>
              <a:t>Primary CIA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000" b="0">
                <a:solidFill>
                  <a:srgbClr val="232A39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1430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143000"/>
            <a:ext cx="91440" cy="2057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2" y="1280160"/>
            <a:ext cx="312724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Aptos"/>
              </a:defRPr>
            </a:pPr>
            <a:r>
              <a:t>Priority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700784"/>
            <a:ext cx="3108960" cy="139903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300" b="0">
                <a:solidFill>
                  <a:srgbClr val="232A39"/>
                </a:solidFill>
                <a:latin typeface="Aptos"/>
              </a:defRPr>
            </a:pPr>
            <a:r>
              <a:t>MFA, IT/OT separation, manual operations, crisis plans, 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800" b="1">
                <a:solidFill>
                  <a:srgbClr val="713EB5"/>
                </a:solidFill>
                <a:latin typeface="Aptos"/>
              </a:defRPr>
            </a:pPr>
            <a:r>
              <a:t>Discussion: What secondary CIA effects and organizational consequences followed?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63440"/>
            <a:ext cx="2240280" cy="658368"/>
          </a:xfrm>
          <a:prstGeom prst="round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Weakness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38728" y="4663440"/>
            <a:ext cx="2240280" cy="658368"/>
          </a:xfrm>
          <a:prstGeom prst="round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8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Attack path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79008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0216" y="4663440"/>
            <a:ext cx="2240280" cy="658368"/>
          </a:xfrm>
          <a:prstGeom prst="round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6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Operational impact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540496" y="4992624"/>
            <a:ext cx="521208" cy="0"/>
          </a:xfrm>
          <a:prstGeom prst="line">
            <a:avLst/>
          </a:prstGeom>
          <a:ln w="25400">
            <a:solidFill>
              <a:srgbClr val="646E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61704" y="4663440"/>
            <a:ext cx="2240280" cy="658368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61704" y="4873752"/>
            <a:ext cx="224028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Lessons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Red Team vs. Blue Team vs. Audit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TEAM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88720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188720"/>
            <a:ext cx="91440" cy="306324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32588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RED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746504"/>
            <a:ext cx="3154680" cy="24048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Propose a realistic attack against a university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188720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188720"/>
            <a:ext cx="91440" cy="306324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32588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BLUE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746504"/>
            <a:ext cx="3154680" cy="24048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Select layered preventive, detective, and corrective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188720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188720"/>
            <a:ext cx="91440" cy="306324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132588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AUDIT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1746504"/>
            <a:ext cx="3154680" cy="24048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0">
                <a:solidFill>
                  <a:srgbClr val="232A39"/>
                </a:solidFill>
                <a:latin typeface="Aptos"/>
              </a:defRPr>
            </a:pPr>
            <a:r>
              <a:t>Classify the CIA impact and evaluate residual risk.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700" b="1">
                <a:solidFill>
                  <a:srgbClr val="101930"/>
                </a:solidFill>
                <a:latin typeface="Aptos"/>
              </a:defRPr>
            </a:pPr>
            <a:r>
              <a:t>Choose: grade portal • online examination • email • attendance • digital library • payment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1042416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600" b="1">
                <a:solidFill>
                  <a:srgbClr val="713EB5"/>
                </a:solidFill>
                <a:latin typeface="Aptos"/>
              </a:defRPr>
            </a:pPr>
            <a:r>
              <a:t>Deliverable: asset → threat → vulnerability → attack → CIA impact → controls → residual risk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Team Challenge — Scoring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TEAM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887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188720"/>
            <a:ext cx="91440" cy="1691640"/>
          </a:xfrm>
          <a:prstGeom prst="rect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32588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D32F2F"/>
                </a:solidFill>
                <a:latin typeface="Aptos"/>
              </a:defRPr>
            </a:pPr>
            <a:r>
              <a:t>2 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746504"/>
            <a:ext cx="315468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Clear asset and attack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1887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188720"/>
            <a:ext cx="91440" cy="169164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32588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F57C00"/>
                </a:solidFill>
                <a:latin typeface="Aptos"/>
              </a:defRPr>
            </a:pPr>
            <a:r>
              <a:t>2 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1746504"/>
            <a:ext cx="315468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Correct CIA 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18872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188720"/>
            <a:ext cx="91440" cy="1691640"/>
          </a:xfrm>
          <a:prstGeom prst="rect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132588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3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1746504"/>
            <a:ext cx="315468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Layered and relevant controls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3756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337560"/>
            <a:ext cx="91440" cy="1691640"/>
          </a:xfrm>
          <a:prstGeom prst="rect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2 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895344"/>
            <a:ext cx="315468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Residual-risk reasoning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3756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337560"/>
            <a:ext cx="91440" cy="1691640"/>
          </a:xfrm>
          <a:prstGeom prst="rect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3474720"/>
            <a:ext cx="3172968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1 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3895344"/>
            <a:ext cx="3154680" cy="103327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Clear 60-second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700" b="1">
                <a:solidFill>
                  <a:srgbClr val="101930"/>
                </a:solidFill>
                <a:latin typeface="Aptos"/>
              </a:defRPr>
            </a:pPr>
            <a:r>
              <a:t>Total: 10 marks • Preparation: 8 minutes • Pitch: 60 seconds per team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One-Minute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Instructor-created formative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143000"/>
            <a:ext cx="594360" cy="594360"/>
          </a:xfrm>
          <a:prstGeom prst="ellipse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307592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143000"/>
            <a:ext cx="9692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55648" y="1316736"/>
            <a:ext cx="92354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1">
                <a:solidFill>
                  <a:srgbClr val="232A39"/>
                </a:solidFill>
                <a:latin typeface="Aptos"/>
              </a:defRPr>
            </a:pPr>
            <a:r>
              <a:t>1. One concept you understand well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075688"/>
            <a:ext cx="594360" cy="594360"/>
          </a:xfrm>
          <a:prstGeom prst="ellipse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2075688"/>
            <a:ext cx="9692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55648" y="2249424"/>
            <a:ext cx="92354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1">
                <a:solidFill>
                  <a:srgbClr val="232A39"/>
                </a:solidFill>
                <a:latin typeface="Aptos"/>
              </a:defRPr>
            </a:pPr>
            <a:r>
              <a:t>2. One concept still unclear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008376"/>
            <a:ext cx="594360" cy="59436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172968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3008376"/>
            <a:ext cx="9692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55648" y="3182112"/>
            <a:ext cx="92354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1">
                <a:solidFill>
                  <a:srgbClr val="232A39"/>
                </a:solidFill>
                <a:latin typeface="Aptos"/>
              </a:defRPr>
            </a:pPr>
            <a:r>
              <a:t>3. One confidentiality example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941064"/>
            <a:ext cx="594360" cy="59436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105656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3941064"/>
            <a:ext cx="9692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55648" y="4114800"/>
            <a:ext cx="92354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1">
                <a:solidFill>
                  <a:srgbClr val="232A39"/>
                </a:solidFill>
                <a:latin typeface="Aptos"/>
              </a:defRPr>
            </a:pPr>
            <a:r>
              <a:t>4. One integrity control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873752"/>
            <a:ext cx="594360" cy="59436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038344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54480" y="4873752"/>
            <a:ext cx="9692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55648" y="5047488"/>
            <a:ext cx="92354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500" b="1">
                <a:solidFill>
                  <a:srgbClr val="232A39"/>
                </a:solidFill>
                <a:latin typeface="Aptos"/>
              </a:defRPr>
            </a:pPr>
            <a:r>
              <a:t>5. One availability risk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Lecture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crypto_ebook.pdf — Chapter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97280"/>
            <a:ext cx="53492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234439"/>
            <a:ext cx="4946903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Confidentiality: authorized disclosure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Integrity: accurate and trustworthy data and systems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Availability: timely, reliable access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Authentication, authorization, and accountability are distinct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097280"/>
            <a:ext cx="53492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39"/>
            <a:ext cx="4946903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009488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Map attack → service → mechanism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Use preventive, detective, and corrective controls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Learn from real failure chains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Design security around assets, users, and recovery requirements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References for the Added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Authoritative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051560"/>
            <a:ext cx="594360" cy="594360"/>
          </a:xfrm>
          <a:prstGeom prst="ellipse">
            <a:avLst/>
          </a:prstGeom>
          <a:solidFill>
            <a:srgbClr val="245DB2"/>
          </a:solidFill>
          <a:ln>
            <a:solidFill>
              <a:srgbClr val="245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16151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161288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1">
                <a:solidFill>
                  <a:srgbClr val="232A39"/>
                </a:solidFill>
                <a:latin typeface="Aptos"/>
              </a:defRPr>
            </a:pPr>
            <a:r>
              <a:t>Federal Trade Commission — Equifax Data Breach Settlement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746504"/>
            <a:ext cx="594360" cy="594360"/>
          </a:xfrm>
          <a:prstGeom prst="ellipse">
            <a:avLst/>
          </a:prstGeom>
          <a:solidFill>
            <a:srgbClr val="009488"/>
          </a:solidFill>
          <a:ln>
            <a:solidFill>
              <a:srgbClr val="00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911095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856232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1">
                <a:solidFill>
                  <a:srgbClr val="232A39"/>
                </a:solidFill>
                <a:latin typeface="Aptos"/>
              </a:defRPr>
            </a:pPr>
            <a:r>
              <a:t>Apache Software Foundation — Equifax breach statement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441448"/>
            <a:ext cx="594360" cy="594360"/>
          </a:xfrm>
          <a:prstGeom prst="ellipse">
            <a:avLst/>
          </a:prstGeom>
          <a:solidFill>
            <a:srgbClr val="713EB5"/>
          </a:solidFill>
          <a:ln>
            <a:solidFill>
              <a:srgbClr val="713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606040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51176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CISA — SolarWinds Compromise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136392"/>
            <a:ext cx="594360" cy="594360"/>
          </a:xfrm>
          <a:prstGeom prst="ellipse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300984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246120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MITRE ATT&amp;CK — SolarWinds campaign C0024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831335"/>
            <a:ext cx="594360" cy="594360"/>
          </a:xfrm>
          <a:prstGeom prst="ellipse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995927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41064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UK National Audit Office — WannaCry and the NHS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526279"/>
            <a:ext cx="594360" cy="59436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690871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636008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CISA — Colonial Pipeline lessons learned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5221224"/>
            <a:ext cx="594360" cy="594360"/>
          </a:xfrm>
          <a:prstGeom prst="ellipse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385816"/>
            <a:ext cx="594360" cy="2286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30952"/>
            <a:ext cx="9875520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400" b="0">
                <a:solidFill>
                  <a:srgbClr val="232A39"/>
                </a:solidFill>
                <a:latin typeface="Aptos"/>
              </a:defRPr>
            </a:pPr>
            <a:r>
              <a:t>U.S. Department of Energy — Colonial Pipeline Cyber Incident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solidFill>
              <a:srgbClr val="F4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92640" cy="4114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Instructor Animation &amp; Delivery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12680" y="182880"/>
            <a:ext cx="1691640" cy="27432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24B7EE"/>
                </a:solidFill>
                <a:latin typeface="Aptos"/>
              </a:defRPr>
            </a:pPr>
            <a:r>
              <a:t>PRESENTER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18288"/>
          </a:xfrm>
          <a:prstGeom prst="rect">
            <a:avLst/>
          </a:prstGeom>
          <a:solidFill>
            <a:srgbClr val="D3DDEC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700" b="0">
                <a:solidFill>
                  <a:srgbClr val="646E82"/>
                </a:solidFill>
                <a:latin typeface="Aptos"/>
              </a:defRPr>
            </a:pPr>
            <a:r>
              <a:t>Recommended pacing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37960"/>
            <a:ext cx="548640" cy="18288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r">
              <a:defRPr sz="900" b="1">
                <a:solidFill>
                  <a:srgbClr val="646E82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97280"/>
            <a:ext cx="53492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234439"/>
            <a:ext cx="4946903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245DB2"/>
                </a:solidFill>
                <a:latin typeface="Aptos"/>
              </a:defRPr>
            </a:pPr>
            <a:r>
              <a:t>Animations 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Fade transitions across the deck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Progressive cold-open sequence using duplicate slides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Question-before-answer reveal pairs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Case-file-before-case-reveal pairs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Visual attack chains and process arrows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097280"/>
            <a:ext cx="53492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3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39"/>
            <a:ext cx="4946903" cy="3200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defRPr sz="1700" b="1">
                <a:solidFill>
                  <a:srgbClr val="713EB5"/>
                </a:solidFill>
                <a:latin typeface="Aptos"/>
              </a:defRPr>
            </a:pPr>
            <a:r>
              <a:t>Recommended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Pause 5–10 seconds before answer reveals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Use Morph only if available and desired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Avoid animating every bullet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Advance case reveals after team discussion</a:t>
            </a:r>
          </a:p>
          <a:p>
            <a:pPr>
              <a:spcAft>
                <a:spcPts val="700"/>
              </a:spcAft>
              <a:defRPr sz="1400">
                <a:solidFill>
                  <a:srgbClr val="232A39"/>
                </a:solidFill>
                <a:latin typeface="Aptos"/>
              </a:defRPr>
            </a:pPr>
            <a:r>
              <a:t>Keep live polls under 60 seconds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30"/>
          </a:solidFill>
          <a:ln>
            <a:solidFill>
              <a:srgbClr val="101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4864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200" b="1">
                <a:solidFill>
                  <a:srgbClr val="24B7EE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Security becomes memorable when students investigate, predict, defend, and explain.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ctr">
              <a:defRPr sz="2000" b="1">
                <a:solidFill>
                  <a:srgbClr val="C8D7F0"/>
                </a:solidFill>
                <a:latin typeface="Aptos"/>
              </a:defRPr>
            </a:pPr>
            <a:r>
              <a:t>Next lecture: Fundamentals of Cryptography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2432</Words>
  <Application>Microsoft Macintosh PowerPoint</Application>
  <PresentationFormat>Widescreen</PresentationFormat>
  <Paragraphs>510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Gehad Taher</dc:creator>
  <cp:keywords/>
  <dc:description>generated using python-pptx</dc:description>
  <cp:lastModifiedBy>Gehad Taher</cp:lastModifiedBy>
  <cp:revision>2</cp:revision>
  <dcterms:created xsi:type="dcterms:W3CDTF">2026-09-18T19:04:12Z</dcterms:created>
  <dcterms:modified xsi:type="dcterms:W3CDTF">2026-09-26T14:36:29Z</dcterms:modified>
  <cp:category/>
</cp:coreProperties>
</file>