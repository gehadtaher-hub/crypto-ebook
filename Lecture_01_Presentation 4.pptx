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crypto_ebook.pdf, Chapter 1: Introduction to Information Security.
- Visuals generated with Microsoft Copilot where used.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crypto_ebook.pdf, Chapter 1: Introduction to Information Security.
- Visuals generated with Microsoft Copilot where used.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crypto_ebook.pdf, Chapter 1: Introduction to Information Security.
- Visuals generated with Microsoft Copilot where used.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crypto_ebook.pdf, Chapter 1: Introduction to Information Security.
- Visuals generated with Microsoft Copilot where used.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crypto_ebook.pdf, Chapter 1: Introduction to Information Security.
- Visuals generated with Microsoft Copilot where used.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crypto_ebook.pdf, Chapter 1: Introduction to Information Security.
- Visuals generated with Microsoft Copilot where used.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crypto_ebook.pdf, Chapter 1: Introduction to Information Security.
- Visuals generated with Microsoft Copilot where used.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crypto_ebook.pdf, Chapter 1: Introduction to Information Security.
- Visuals generated with Microsoft Copilot where used.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crypto_ebook.pdf, Chapter 1: Introduction to Information Security.
- Visuals generated with Microsoft Copilot where used.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crypto_ebook.pdf, Chapter 1: Introduction to Information Security.
- Visuals generated with Microsoft Copilot where used.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crypto_ebook.pdf, Chapter 1: Introduction to Information Security.
- Visuals generated with Microsoft Copilot where used.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crypto_ebook.pdf, Chapter 1: Introduction to Information Security.
- Visuals generated with Microsoft Copilot where used.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crypto_ebook.pdf, Chapter 1: Introduction to Information Security.
- Visuals generated with Microsoft Copilot where used.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crypto_ebook.pdf, Chapter 1: Introduction to Information Security.
- Visuals generated with Microsoft Copilot where used.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crypto_ebook.pdf, Chapter 1: Introduction to Information Security.
- Visuals generated with Microsoft Copilot where used.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crypto_ebook.pdf, Chapter 1: Introduction to Information Security.
- Visuals generated with Microsoft Copilot where used.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crypto_ebook.pdf, Chapter 1: Introduction to Information Security.
- Visuals generated with Microsoft Copilot where used.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crypto_ebook.pdf, Chapter 1: Introduction to Information Security.
- Visuals generated with Microsoft Copilot where used.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crypto_ebook.pdf, Chapter 1: Introduction to Information Security.
- Visuals generated with Microsoft Copilot where used.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crypto_ebook.pdf, Chapter 1: Introduction to Information Security.
- Visuals generated with Microsoft Copilot where used.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crypto_ebook.pdf, Chapter 1: Introduction to Information Security.
- Visuals generated with Microsoft Copilot where used.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crypto_ebook.pdf, Chapter 1: Introduction to Information Security.
- Visuals generated with Microsoft Copilot where used.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crypto_ebook.pdf, Chapter 1: Introduction to Information Security.
- Visuals generated with Microsoft Copilot where used.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crypto_ebook.pdf, Chapter 1: Introduction to Information Security.
- Visuals generated with Microsoft Copilot where used.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2033"/>
          </a:solidFill>
          <a:ln w="12700">
            <a:solidFill>
              <a:srgbClr val="2B20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25F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&amp; CRYPTOGRAPHY  •  LECTURE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995160" y="22860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6A73"/>
                </a:solidFill>
              </a:rPr>
              <a:t>Chapter 1 • Introduction to Information Security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2700">
            <a:solidFill>
              <a:srgbClr val="E4D1D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6A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6A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033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6903720" y="594360"/>
            <a:ext cx="4709160" cy="5623560"/>
          </a:xfrm>
          <a:prstGeom prst="roundRect">
            <a:avLst>
              <a:gd name="adj" fmla="val 1553"/>
            </a:avLst>
          </a:prstGeom>
          <a:solidFill>
            <a:srgbClr val="3C2D45">
              <a:alpha val="95000"/>
            </a:srgbClr>
          </a:solidFill>
          <a:ln w="15240">
            <a:solidFill>
              <a:srgbClr val="9C81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1051560"/>
            <a:ext cx="1417320" cy="914400"/>
          </a:xfrm>
          <a:prstGeom prst="ellipse">
            <a:avLst/>
          </a:prstGeom>
          <a:solidFill>
            <a:srgbClr val="D58F89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06640" y="135331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Assets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372600" y="1024128"/>
            <a:ext cx="1417320" cy="914400"/>
          </a:xfrm>
          <a:prstGeom prst="ellipse">
            <a:avLst/>
          </a:prstGeom>
          <a:solidFill>
            <a:srgbClr val="9C8199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64040" y="13258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Goals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406640" y="2743200"/>
            <a:ext cx="1417320" cy="914400"/>
          </a:xfrm>
          <a:prstGeom prst="ellipse">
            <a:avLst/>
          </a:prstGeom>
          <a:solidFill>
            <a:srgbClr val="A5485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0" y="304495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Attacks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326880" y="2743200"/>
            <a:ext cx="1417320" cy="914400"/>
          </a:xfrm>
          <a:prstGeom prst="ellipse">
            <a:avLst/>
          </a:prstGeom>
          <a:solidFill>
            <a:srgbClr val="3D766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0" y="304495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Controls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366760" y="4572000"/>
            <a:ext cx="1417320" cy="914400"/>
          </a:xfrm>
          <a:prstGeom prst="ellipse">
            <a:avLst/>
          </a:prstGeom>
          <a:solidFill>
            <a:srgbClr val="F2CBC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8200" y="487375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033"/>
                </a:solidFill>
              </a:rPr>
              <a:t>Risk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38160" y="1554480"/>
            <a:ext cx="1188720" cy="1143000"/>
          </a:xfrm>
          <a:prstGeom prst="line">
            <a:avLst/>
          </a:prstGeom>
          <a:noFill/>
          <a:ln w="25400">
            <a:solidFill>
              <a:srgbClr val="F2CBC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H="1">
            <a:off x="9052560" y="1554480"/>
            <a:ext cx="822960" cy="1143000"/>
          </a:xfrm>
          <a:prstGeom prst="line">
            <a:avLst/>
          </a:prstGeom>
          <a:noFill/>
          <a:ln w="25400">
            <a:solidFill>
              <a:srgbClr val="F2CBC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092440" y="3657600"/>
            <a:ext cx="731520" cy="914400"/>
          </a:xfrm>
          <a:prstGeom prst="line">
            <a:avLst/>
          </a:prstGeom>
          <a:noFill/>
          <a:ln w="25400">
            <a:solidFill>
              <a:srgbClr val="F2CBC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H="1">
            <a:off x="8961120" y="3657600"/>
            <a:ext cx="548640" cy="914400"/>
          </a:xfrm>
          <a:prstGeom prst="line">
            <a:avLst/>
          </a:prstGeom>
          <a:noFill/>
          <a:ln w="25400">
            <a:solidFill>
              <a:srgbClr val="F2CBC7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033">
              <a:alpha val="72000"/>
            </a:srgbClr>
          </a:solidFill>
          <a:ln w="12700">
            <a:solidFill>
              <a:srgbClr val="2B20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" y="658368"/>
            <a:ext cx="6537960" cy="5394960"/>
          </a:xfrm>
          <a:prstGeom prst="roundRect">
            <a:avLst>
              <a:gd name="adj" fmla="val 1356"/>
            </a:avLst>
          </a:prstGeom>
          <a:solidFill>
            <a:srgbClr val="2B2033">
              <a:alpha val="87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10241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CBC7"/>
                </a:solidFill>
              </a:rPr>
              <a:t>LECTURE 1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32688" y="1481328"/>
            <a:ext cx="5715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Introduction to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Information Security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960120" y="3383280"/>
            <a:ext cx="5440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4F5"/>
                </a:solidFill>
              </a:rPr>
              <a:t>From protecting student records to keeping hospitals, banks, and cloud services dependable.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60120" y="5303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BC7"/>
                </a:solidFill>
              </a:rPr>
              <a:t>Aligned with crypto_ebook.pdf • Chapter 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033"/>
                </a:solidFill>
              </a:rPr>
              <a:t>Opening challenge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11430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46A73"/>
                </a:solidFill>
              </a:rPr>
              <a:t>A normal university morning: what could go wrong?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29400" y="1444752"/>
            <a:ext cx="4892040" cy="4251960"/>
          </a:xfrm>
          <a:prstGeom prst="roundRect">
            <a:avLst>
              <a:gd name="adj" fmla="val 1720"/>
            </a:avLst>
          </a:prstGeom>
          <a:solidFill>
            <a:srgbClr val="F8EFF2"/>
          </a:solidFill>
          <a:ln w="15240">
            <a:solidFill>
              <a:srgbClr val="CBB0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1700784"/>
            <a:ext cx="4434840" cy="594360"/>
          </a:xfrm>
          <a:prstGeom prst="roundRect">
            <a:avLst>
              <a:gd name="adj" fmla="val 7692"/>
            </a:avLst>
          </a:prstGeom>
          <a:solidFill>
            <a:srgbClr val="2B2033"/>
          </a:solidFill>
          <a:ln w="16510">
            <a:solidFill>
              <a:srgbClr val="2B2033"/>
            </a:solidFill>
            <a:prstDash val="solid"/>
          </a:ln>
          <a:effectLst>
            <a:outerShdw sx="100000" sy="100000" kx="0" ky="0" algn="bl" rotWithShape="0" blurRad="12700" dist="12700" dir="2700000">
              <a:srgbClr val="2B2033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31152" y="1810512"/>
            <a:ext cx="428853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033"/>
                </a:solidFill>
              </a:rPr>
              <a:t>UNIVERSITY PORTAL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85432" y="2560320"/>
            <a:ext cx="1320851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6510">
            <a:solidFill>
              <a:srgbClr val="9C8199"/>
            </a:solidFill>
            <a:prstDash val="solid"/>
          </a:ln>
          <a:effectLst>
            <a:outerShdw sx="100000" sy="100000" kx="0" ky="0" algn="bl" rotWithShape="0" blurRad="12700" dist="12700" dir="2700000">
              <a:srgbClr val="2B2033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58584" y="2670048"/>
            <a:ext cx="1174547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033"/>
                </a:solidFill>
              </a:rPr>
              <a:t>Student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414995" y="2560320"/>
            <a:ext cx="1320851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6510">
            <a:solidFill>
              <a:srgbClr val="D58F89"/>
            </a:solidFill>
            <a:prstDash val="solid"/>
          </a:ln>
          <a:effectLst>
            <a:outerShdw sx="100000" sy="100000" kx="0" ky="0" algn="bl" rotWithShape="0" blurRad="12700" dist="12700" dir="2700000">
              <a:srgbClr val="2B2033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488147" y="2670048"/>
            <a:ext cx="1174547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033"/>
                </a:solidFill>
              </a:rPr>
              <a:t>Instructor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809226" y="2560320"/>
            <a:ext cx="1320851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6510">
            <a:solidFill>
              <a:srgbClr val="2B2033"/>
            </a:solidFill>
            <a:prstDash val="solid"/>
          </a:ln>
          <a:effectLst>
            <a:outerShdw sx="100000" sy="100000" kx="0" ky="0" algn="bl" rotWithShape="0" blurRad="12700" dist="12700" dir="2700000">
              <a:srgbClr val="2B2033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882378" y="2670048"/>
            <a:ext cx="1174547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033"/>
                </a:solidFill>
              </a:rPr>
              <a:t>Administrator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76872" y="3776472"/>
            <a:ext cx="4197096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6510">
            <a:solidFill>
              <a:srgbClr val="CBB0BD"/>
            </a:solidFill>
            <a:prstDash val="solid"/>
          </a:ln>
          <a:effectLst>
            <a:outerShdw sx="100000" sy="100000" kx="0" ky="0" algn="bl" rotWithShape="0" blurRad="12700" dist="12700" dir="2700000">
              <a:srgbClr val="2B2033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50024" y="3886200"/>
            <a:ext cx="4050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033"/>
                </a:solidFill>
              </a:rPr>
              <a:t>Grades  •  Identity  •  Fees  •  Messages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075420" y="3383280"/>
            <a:ext cx="1" cy="347472"/>
          </a:xfrm>
          <a:prstGeom prst="line">
            <a:avLst/>
          </a:prstGeom>
          <a:noFill/>
          <a:ln w="25400">
            <a:solidFill>
              <a:srgbClr val="D58F89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949440" y="4626864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46A73"/>
                </a:solidFill>
              </a:rPr>
              <a:t>Different users need different access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" y="1600200"/>
            <a:ext cx="5440680" cy="1078992"/>
          </a:xfrm>
          <a:prstGeom prst="roundRect">
            <a:avLst>
              <a:gd name="adj" fmla="val 6780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1600200"/>
            <a:ext cx="82296" cy="1078992"/>
          </a:xfrm>
          <a:prstGeom prst="rect">
            <a:avLst/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1783080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033"/>
                </a:solidFill>
              </a:rPr>
              <a:t>Scenario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77824" y="2258568"/>
            <a:ext cx="50292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746A73"/>
                </a:solidFill>
              </a:rPr>
              <a:t>The campus portal stores grades, IDs, fees, messages, and course files.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58368" y="2880360"/>
            <a:ext cx="5440680" cy="1078992"/>
          </a:xfrm>
          <a:prstGeom prst="roundRect">
            <a:avLst>
              <a:gd name="adj" fmla="val 6780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" y="2880360"/>
            <a:ext cx="82296" cy="1078992"/>
          </a:xfrm>
          <a:prstGeom prst="rect">
            <a:avLst/>
          </a:prstGeom>
          <a:solidFill>
            <a:srgbClr val="9C8199"/>
          </a:solidFill>
          <a:ln w="12700">
            <a:solidFill>
              <a:srgbClr val="9C81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3063240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033"/>
                </a:solidFill>
              </a:rPr>
              <a:t>Your task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77824" y="3538728"/>
            <a:ext cx="50292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746A73"/>
                </a:solidFill>
              </a:rPr>
              <a:t>Name three things that must remain protected for students to trust the portal.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58368" y="4160520"/>
            <a:ext cx="5440680" cy="1078992"/>
          </a:xfrm>
          <a:prstGeom prst="roundRect">
            <a:avLst>
              <a:gd name="adj" fmla="val 6780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8368" y="4160520"/>
            <a:ext cx="82296" cy="1078992"/>
          </a:xfrm>
          <a:prstGeom prst="rect">
            <a:avLst/>
          </a:prstGeom>
          <a:solidFill>
            <a:srgbClr val="2B2033"/>
          </a:solidFill>
          <a:ln w="12700">
            <a:solidFill>
              <a:srgbClr val="2B20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7824" y="4343400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033"/>
                </a:solidFill>
              </a:rPr>
              <a:t>Think beyond secrecy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77824" y="4818888"/>
            <a:ext cx="50292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746A73"/>
                </a:solidFill>
              </a:rPr>
              <a:t>What if the grade is changed? What if the portal is unavailable during registration?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58368" y="5925312"/>
            <a:ext cx="10844784" cy="420624"/>
          </a:xfrm>
          <a:prstGeom prst="roundRect">
            <a:avLst>
              <a:gd name="adj" fmla="val 13043"/>
            </a:avLst>
          </a:prstGeom>
          <a:solidFill>
            <a:srgbClr val="F6E6E8"/>
          </a:solidFill>
          <a:ln w="12700">
            <a:solidFill>
              <a:srgbClr val="F2CB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6044184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033"/>
                </a:solidFill>
              </a:rPr>
              <a:t>PREDICT  →  Which failure harms students most: leaked grades, changed grades, or no portal access?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6A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10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6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0" fill="hold" nodeType="clickEffect"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23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30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033"/>
                </a:solidFill>
              </a:rPr>
              <a:t>What you will be able to do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11430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46A73"/>
                </a:solidFill>
              </a:rPr>
              <a:t>By the end, students can explain, classify, and apply security concepts.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" y="1554480"/>
            <a:ext cx="516636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554480"/>
            <a:ext cx="82296" cy="1051560"/>
          </a:xfrm>
          <a:prstGeom prst="rect">
            <a:avLst/>
          </a:prstGeom>
          <a:solidFill>
            <a:srgbClr val="9C8199"/>
          </a:solidFill>
          <a:ln w="12700">
            <a:solidFill>
              <a:srgbClr val="9C81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737360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033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7824" y="2212848"/>
            <a:ext cx="475488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746A73"/>
                </a:solidFill>
              </a:rPr>
              <a:t>Explain information security and why it matters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81928" y="1554480"/>
            <a:ext cx="516636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81928" y="1554480"/>
            <a:ext cx="82296" cy="1051560"/>
          </a:xfrm>
          <a:prstGeom prst="rect">
            <a:avLst/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01384" y="1737360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033"/>
                </a:solidFill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01384" y="2212848"/>
            <a:ext cx="475488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746A73"/>
                </a:solidFill>
              </a:rPr>
              <a:t>Apply CIA, authentication, authorization, and accountability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8368" y="2907792"/>
            <a:ext cx="516636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" y="2907792"/>
            <a:ext cx="82296" cy="1051560"/>
          </a:xfrm>
          <a:prstGeom prst="rect">
            <a:avLst/>
          </a:prstGeom>
          <a:solidFill>
            <a:srgbClr val="9C8199"/>
          </a:solidFill>
          <a:ln w="12700">
            <a:solidFill>
              <a:srgbClr val="9C81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090672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033"/>
                </a:solidFill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77824" y="3566160"/>
            <a:ext cx="475488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746A73"/>
                </a:solidFill>
              </a:rPr>
              <a:t>Distinguish threats, vulnerabilities, attacks, services, and mechanisms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81928" y="2907792"/>
            <a:ext cx="516636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81928" y="2907792"/>
            <a:ext cx="82296" cy="1051560"/>
          </a:xfrm>
          <a:prstGeom prst="rect">
            <a:avLst/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01384" y="3090672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033"/>
                </a:solidFill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01384" y="3566160"/>
            <a:ext cx="475488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746A73"/>
                </a:solidFill>
              </a:rPr>
              <a:t>Classify passive and active attacks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58368" y="4261104"/>
            <a:ext cx="516636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" y="4261104"/>
            <a:ext cx="82296" cy="1051560"/>
          </a:xfrm>
          <a:prstGeom prst="rect">
            <a:avLst/>
          </a:prstGeom>
          <a:solidFill>
            <a:srgbClr val="9C8199"/>
          </a:solidFill>
          <a:ln w="12700">
            <a:solidFill>
              <a:srgbClr val="9C81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" y="4443984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033"/>
                </a:solidFill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77824" y="4919472"/>
            <a:ext cx="475488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746A73"/>
                </a:solidFill>
              </a:rPr>
              <a:t>Build a basic security model and select controls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81928" y="4261104"/>
            <a:ext cx="516636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81928" y="4261104"/>
            <a:ext cx="82296" cy="1051560"/>
          </a:xfrm>
          <a:prstGeom prst="rect">
            <a:avLst/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01384" y="4443984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033"/>
                </a:solidFill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501384" y="4919472"/>
            <a:ext cx="475488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746A73"/>
                </a:solidFill>
              </a:rPr>
              <a:t>Analyze risk in a real university scenario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6A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10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5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0" fill="hold" nodeType="clickEffect"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22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27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033"/>
                </a:solidFill>
              </a:rPr>
              <a:t>Information security protects more than data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11430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46A73"/>
                </a:solidFill>
              </a:rPr>
              <a:t>It protects information, systems, operations, and trust.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4983480" cy="4315968"/>
          </a:xfrm>
          <a:prstGeom prst="roundRect">
            <a:avLst>
              <a:gd name="adj" fmla="val 1695"/>
            </a:avLst>
          </a:prstGeom>
          <a:solidFill>
            <a:srgbClr val="F8EFF2"/>
          </a:solidFill>
          <a:ln w="12700">
            <a:solidFill>
              <a:srgbClr val="CBB0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737360"/>
            <a:ext cx="4288536" cy="566928"/>
          </a:xfrm>
          <a:prstGeom prst="roundRect">
            <a:avLst>
              <a:gd name="adj" fmla="val 8065"/>
            </a:avLst>
          </a:prstGeom>
          <a:solidFill>
            <a:srgbClr val="2B2033"/>
          </a:solidFill>
          <a:ln w="16510">
            <a:solidFill>
              <a:srgbClr val="2B2033"/>
            </a:solidFill>
            <a:prstDash val="solid"/>
          </a:ln>
          <a:effectLst>
            <a:outerShdw sx="100000" sy="100000" kx="0" ky="0" algn="bl" rotWithShape="0" blurRad="12700" dist="12700" dir="2700000">
              <a:srgbClr val="2B2033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78992" y="1847088"/>
            <a:ext cx="4142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033"/>
                </a:solidFill>
              </a:rPr>
              <a:t>WHAT MUST BE PROTECTED?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86968" y="2651760"/>
            <a:ext cx="1441704" cy="1417320"/>
          </a:xfrm>
          <a:prstGeom prst="roundRect">
            <a:avLst>
              <a:gd name="adj" fmla="val 3226"/>
            </a:avLst>
          </a:prstGeom>
          <a:solidFill>
            <a:srgbClr val="F3E8EF"/>
          </a:solidFill>
          <a:ln w="16510">
            <a:solidFill>
              <a:srgbClr val="9C8199"/>
            </a:solidFill>
            <a:prstDash val="solid"/>
          </a:ln>
          <a:effectLst>
            <a:outerShdw sx="100000" sy="100000" kx="0" ky="0" algn="bl" rotWithShape="0" blurRad="12700" dist="12700" dir="2700000">
              <a:srgbClr val="2B2033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761488"/>
            <a:ext cx="12954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033"/>
                </a:solidFill>
              </a:rPr>
              <a:t>Information</a:t>
            </a:r>
            <a:endParaRPr lang="en-US" sz="1250" dirty="0"/>
          </a:p>
          <a:p>
            <a:pPr algn="ctr" indent="0" marL="0">
              <a:buNone/>
            </a:pP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B2033"/>
                </a:solidFill>
              </a:rPr>
              <a:t>Grades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B2033"/>
                </a:solidFill>
              </a:rPr>
              <a:t>Identity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B2033"/>
                </a:solidFill>
              </a:rPr>
              <a:t>Messages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395728" y="2651760"/>
            <a:ext cx="1441704" cy="1417320"/>
          </a:xfrm>
          <a:prstGeom prst="roundRect">
            <a:avLst>
              <a:gd name="adj" fmla="val 3226"/>
            </a:avLst>
          </a:prstGeom>
          <a:solidFill>
            <a:srgbClr val="FCE9E6"/>
          </a:solidFill>
          <a:ln w="16510">
            <a:solidFill>
              <a:srgbClr val="D58F89"/>
            </a:solidFill>
            <a:prstDash val="solid"/>
          </a:ln>
          <a:effectLst>
            <a:outerShdw sx="100000" sy="100000" kx="0" ky="0" algn="bl" rotWithShape="0" blurRad="12700" dist="12700" dir="2700000">
              <a:srgbClr val="2B2033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2761488"/>
            <a:ext cx="12954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033"/>
                </a:solidFill>
              </a:rPr>
              <a:t>Systems</a:t>
            </a:r>
            <a:endParaRPr lang="en-US" sz="1250" dirty="0"/>
          </a:p>
          <a:p>
            <a:pPr algn="ctr" indent="0" marL="0">
              <a:buNone/>
            </a:pP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B2033"/>
                </a:solidFill>
              </a:rPr>
              <a:t>Portal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B2033"/>
                </a:solidFill>
              </a:rPr>
              <a:t>Database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B2033"/>
                </a:solidFill>
              </a:rPr>
              <a:t>Network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904488" y="2651760"/>
            <a:ext cx="1441704" cy="1417320"/>
          </a:xfrm>
          <a:prstGeom prst="roundRect">
            <a:avLst>
              <a:gd name="adj" fmla="val 3226"/>
            </a:avLst>
          </a:prstGeom>
          <a:solidFill>
            <a:srgbClr val="EEE7F0"/>
          </a:solidFill>
          <a:ln w="16510">
            <a:solidFill>
              <a:srgbClr val="2B2033"/>
            </a:solidFill>
            <a:prstDash val="solid"/>
          </a:ln>
          <a:effectLst>
            <a:outerShdw sx="100000" sy="100000" kx="0" ky="0" algn="bl" rotWithShape="0" blurRad="12700" dist="12700" dir="2700000">
              <a:srgbClr val="2B2033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977640" y="2761488"/>
            <a:ext cx="12954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033"/>
                </a:solidFill>
              </a:rPr>
              <a:t>Operations</a:t>
            </a:r>
            <a:endParaRPr lang="en-US" sz="1250" dirty="0"/>
          </a:p>
          <a:p>
            <a:pPr algn="ctr" indent="0" marL="0">
              <a:buNone/>
            </a:pP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B2033"/>
                </a:solidFill>
              </a:rPr>
              <a:t>Registration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B2033"/>
                </a:solidFill>
              </a:rPr>
              <a:t>Teaching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B2033"/>
                </a:solidFill>
              </a:rPr>
              <a:t>Recovery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298448" y="4663440"/>
            <a:ext cx="37033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6510">
            <a:solidFill>
              <a:srgbClr val="3D7660"/>
            </a:solidFill>
            <a:prstDash val="solid"/>
          </a:ln>
          <a:effectLst>
            <a:outerShdw sx="100000" sy="100000" kx="0" ky="0" algn="bl" rotWithShape="0" blurRad="12700" dist="12700" dir="2700000">
              <a:srgbClr val="2B2033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371600" y="4773168"/>
            <a:ext cx="3557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33"/>
                </a:solidFill>
              </a:rPr>
              <a:t>Goal: protect privacy, accuracy, access, and trust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89320" y="15544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033"/>
                </a:solidFill>
              </a:rPr>
              <a:t>Information security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5989320" y="2148840"/>
            <a:ext cx="53218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46A73"/>
                </a:solidFill>
              </a:rPr>
              <a:t>The protection of information and information systems from unauthorized access, use, disclosure, disruption, modification, or destruction.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989320" y="3657600"/>
            <a:ext cx="2514600" cy="1298448"/>
          </a:xfrm>
          <a:prstGeom prst="roundRect">
            <a:avLst>
              <a:gd name="adj" fmla="val 5634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89320" y="3657600"/>
            <a:ext cx="82296" cy="1298448"/>
          </a:xfrm>
          <a:prstGeom prst="rect">
            <a:avLst/>
          </a:prstGeom>
          <a:solidFill>
            <a:srgbClr val="9C8199"/>
          </a:solidFill>
          <a:ln w="12700">
            <a:solidFill>
              <a:srgbClr val="9C81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08776" y="384048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033"/>
                </a:solidFill>
              </a:rPr>
              <a:t>Information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08776" y="4315968"/>
            <a:ext cx="21031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746A73"/>
                </a:solidFill>
              </a:rPr>
              <a:t>Grades, messages, identity records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732520" y="3657600"/>
            <a:ext cx="2514600" cy="1298448"/>
          </a:xfrm>
          <a:prstGeom prst="roundRect">
            <a:avLst>
              <a:gd name="adj" fmla="val 5634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732520" y="3657600"/>
            <a:ext cx="82296" cy="1298448"/>
          </a:xfrm>
          <a:prstGeom prst="rect">
            <a:avLst/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51976" y="384048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033"/>
                </a:solidFill>
              </a:rPr>
              <a:t>Systems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51976" y="4315968"/>
            <a:ext cx="21031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746A73"/>
                </a:solidFill>
              </a:rPr>
              <a:t>Portal, network, database, devices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58368" y="5925312"/>
            <a:ext cx="10844784" cy="420624"/>
          </a:xfrm>
          <a:prstGeom prst="roundRect">
            <a:avLst>
              <a:gd name="adj" fmla="val 13043"/>
            </a:avLst>
          </a:prstGeom>
          <a:solidFill>
            <a:srgbClr val="F6E6E8"/>
          </a:solidFill>
          <a:ln w="12700">
            <a:solidFill>
              <a:srgbClr val="F2CB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6044184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033"/>
                </a:solidFill>
              </a:rPr>
              <a:t>PREDICT  →  Is a printed exam paper an information-security asset? Why?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6A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9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4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0" fill="hold" nodeType="clickEffect"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20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26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033"/>
                </a:solidFill>
              </a:rPr>
              <a:t>Why information security matters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11430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46A73"/>
                </a:solidFill>
              </a:rPr>
              <a:t>Security failures affect privacy, money, safety, learning, reputation, and continuity.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463040"/>
            <a:ext cx="10835640" cy="841248"/>
          </a:xfrm>
          <a:prstGeom prst="roundRect">
            <a:avLst>
              <a:gd name="adj" fmla="val 6522"/>
            </a:avLst>
          </a:prstGeom>
          <a:solidFill>
            <a:srgbClr val="F3EAF0"/>
          </a:solidFill>
          <a:ln w="12700">
            <a:solidFill>
              <a:srgbClr val="E4D1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6733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033"/>
                </a:solidFill>
              </a:rPr>
              <a:t>University portal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971800" y="167335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46A73"/>
                </a:solidFill>
              </a:rPr>
              <a:t>Grades changed or registration blocked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458200" y="1682496"/>
            <a:ext cx="2697480" cy="356616"/>
          </a:xfrm>
          <a:prstGeom prst="roundRect">
            <a:avLst>
              <a:gd name="adj" fmla="val 20513"/>
            </a:avLst>
          </a:prstGeom>
          <a:solidFill>
            <a:srgbClr val="9C8199"/>
          </a:solidFill>
          <a:ln w="12700">
            <a:solidFill>
              <a:srgbClr val="9C8199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531352" y="1746504"/>
            <a:ext cx="2551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Integrity + Availability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2542032"/>
            <a:ext cx="10835640" cy="841248"/>
          </a:xfrm>
          <a:prstGeom prst="roundRect">
            <a:avLst>
              <a:gd name="adj" fmla="val 6522"/>
            </a:avLst>
          </a:prstGeom>
          <a:solidFill>
            <a:srgbClr val="FFF3F1"/>
          </a:solidFill>
          <a:ln w="12700">
            <a:solidFill>
              <a:srgbClr val="E4D1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75234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033"/>
                </a:solidFill>
              </a:rPr>
              <a:t>Hospital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971800" y="275234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46A73"/>
                </a:solidFill>
              </a:rPr>
              <a:t>Patient record unavailable during treatment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458200" y="2761488"/>
            <a:ext cx="2697480" cy="356616"/>
          </a:xfrm>
          <a:prstGeom prst="roundRect">
            <a:avLst>
              <a:gd name="adj" fmla="val 20513"/>
            </a:avLst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31352" y="2825496"/>
            <a:ext cx="2551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Availability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3621024"/>
            <a:ext cx="10835640" cy="841248"/>
          </a:xfrm>
          <a:prstGeom prst="roundRect">
            <a:avLst>
              <a:gd name="adj" fmla="val 6522"/>
            </a:avLst>
          </a:prstGeom>
          <a:solidFill>
            <a:srgbClr val="F3EAF0"/>
          </a:solidFill>
          <a:ln w="12700">
            <a:solidFill>
              <a:srgbClr val="E4D1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83133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033"/>
                </a:solidFill>
              </a:rPr>
              <a:t>Banking app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971800" y="383133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46A73"/>
                </a:solidFill>
              </a:rPr>
              <a:t>Account details exposed or transaction altered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458200" y="3840480"/>
            <a:ext cx="2697480" cy="356616"/>
          </a:xfrm>
          <a:prstGeom prst="roundRect">
            <a:avLst>
              <a:gd name="adj" fmla="val 20513"/>
            </a:avLst>
          </a:prstGeom>
          <a:solidFill>
            <a:srgbClr val="9C8199"/>
          </a:solidFill>
          <a:ln w="12700">
            <a:solidFill>
              <a:srgbClr val="9C8199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531352" y="3904488"/>
            <a:ext cx="2551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Confidentiality + Integrity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4700016"/>
            <a:ext cx="10835640" cy="841248"/>
          </a:xfrm>
          <a:prstGeom prst="roundRect">
            <a:avLst>
              <a:gd name="adj" fmla="val 6522"/>
            </a:avLst>
          </a:prstGeom>
          <a:solidFill>
            <a:srgbClr val="FFF3F1"/>
          </a:solidFill>
          <a:ln w="12700">
            <a:solidFill>
              <a:srgbClr val="E4D1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9103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033"/>
                </a:solidFill>
              </a:rPr>
              <a:t>Cloud storage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2971800" y="491032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46A73"/>
                </a:solidFill>
              </a:rPr>
              <a:t>Shared link exposes private documents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458200" y="4919472"/>
            <a:ext cx="2697480" cy="356616"/>
          </a:xfrm>
          <a:prstGeom prst="roundRect">
            <a:avLst>
              <a:gd name="adj" fmla="val 20513"/>
            </a:avLst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531352" y="4983480"/>
            <a:ext cx="2551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Confidentiality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" y="5925312"/>
            <a:ext cx="10844784" cy="420624"/>
          </a:xfrm>
          <a:prstGeom prst="roundRect">
            <a:avLst>
              <a:gd name="adj" fmla="val 13043"/>
            </a:avLst>
          </a:prstGeom>
          <a:solidFill>
            <a:srgbClr val="F6E6E8"/>
          </a:solidFill>
          <a:ln w="12700">
            <a:solidFill>
              <a:srgbClr val="F2CB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6044184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033"/>
                </a:solidFill>
              </a:rPr>
              <a:t>PREDICT  →  For each example, identify the asset, possible harm, and affected security goal.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6A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9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4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0" fill="hold" nodeType="clickEffect"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20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25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033"/>
                </a:solidFill>
              </a:rPr>
              <a:t>The CIA triad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11430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46A73"/>
                </a:solidFill>
              </a:rPr>
              <a:t>Three questions guide the first security analysis.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664208" y="1481328"/>
            <a:ext cx="1737360" cy="1737360"/>
          </a:xfrm>
          <a:prstGeom prst="ellipse">
            <a:avLst/>
          </a:prstGeom>
          <a:solidFill>
            <a:srgbClr val="2B2033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148840" y="1892808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34930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033"/>
                </a:solidFill>
              </a:rPr>
              <a:t>Confidentiality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9776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46A73"/>
                </a:solidFill>
              </a:rPr>
              <a:t>Who is allowed to see it?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68112" y="1481328"/>
            <a:ext cx="1737360" cy="1737360"/>
          </a:xfrm>
          <a:prstGeom prst="ellipse">
            <a:avLst/>
          </a:prstGeom>
          <a:solidFill>
            <a:srgbClr val="9C8199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52744" y="1892808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I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35424" y="34930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033"/>
                </a:solidFill>
              </a:rPr>
              <a:t>Integrity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18304" y="39776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46A73"/>
                </a:solidFill>
              </a:rPr>
              <a:t>Who is allowed to change it?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272016" y="1481328"/>
            <a:ext cx="1737360" cy="1737360"/>
          </a:xfrm>
          <a:prstGeom prst="ellipse">
            <a:avLst/>
          </a:prstGeom>
          <a:solidFill>
            <a:srgbClr val="D58F89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756648" y="1892808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339328" y="34930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033"/>
                </a:solidFill>
              </a:rPr>
              <a:t>Availability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522208" y="39776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46A73"/>
                </a:solidFill>
              </a:rPr>
              <a:t>Can authorized users access it when needed?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8368" y="5925312"/>
            <a:ext cx="10844784" cy="420624"/>
          </a:xfrm>
          <a:prstGeom prst="roundRect">
            <a:avLst>
              <a:gd name="adj" fmla="val 13043"/>
            </a:avLst>
          </a:prstGeom>
          <a:solidFill>
            <a:srgbClr val="F6E6E8"/>
          </a:solidFill>
          <a:ln w="12700">
            <a:solidFill>
              <a:srgbClr val="F2CB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6044184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033"/>
                </a:solidFill>
              </a:rPr>
              <a:t>PREDICT  →  A student transcript is emailed to the wrong person. Which CIA goal failed?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6A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7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0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0" fill="hold" nodeType="clickEffect"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14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17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033"/>
                </a:solidFill>
              </a:rPr>
              <a:t>CIA triad in one real system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11430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46A73"/>
                </a:solidFill>
              </a:rPr>
              <a:t>Apply the three goals to the university portal.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4160520" cy="4480560"/>
          </a:xfrm>
          <a:prstGeom prst="roundRect">
            <a:avLst>
              <a:gd name="adj" fmla="val 1758"/>
            </a:avLst>
          </a:prstGeom>
          <a:solidFill>
            <a:srgbClr val="F8EFF2"/>
          </a:solidFill>
          <a:ln w="15240">
            <a:solidFill>
              <a:srgbClr val="CBB0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73352"/>
            <a:ext cx="3703320" cy="594360"/>
          </a:xfrm>
          <a:prstGeom prst="roundRect">
            <a:avLst>
              <a:gd name="adj" fmla="val 7692"/>
            </a:avLst>
          </a:prstGeom>
          <a:solidFill>
            <a:srgbClr val="2B2033"/>
          </a:solidFill>
          <a:ln w="16510">
            <a:solidFill>
              <a:srgbClr val="2B2033"/>
            </a:solidFill>
            <a:prstDash val="solid"/>
          </a:ln>
          <a:effectLst>
            <a:outerShdw sx="100000" sy="100000" kx="0" ky="0" algn="bl" rotWithShape="0" blurRad="12700" dist="12700" dir="2700000">
              <a:srgbClr val="2B2033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41832" y="1783080"/>
            <a:ext cx="35570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033"/>
                </a:solidFill>
              </a:rPr>
              <a:t>UNIVERSITY PORTAL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96112" y="2532888"/>
            <a:ext cx="112334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6510">
            <a:solidFill>
              <a:srgbClr val="9C8199"/>
            </a:solidFill>
            <a:prstDash val="solid"/>
          </a:ln>
          <a:effectLst>
            <a:outerShdw sx="100000" sy="100000" kx="0" ky="0" algn="bl" rotWithShape="0" blurRad="12700" dist="12700" dir="2700000">
              <a:srgbClr val="2B2033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9264" y="2642616"/>
            <a:ext cx="9770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033"/>
                </a:solidFill>
              </a:rPr>
              <a:t>Student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58670" y="2532888"/>
            <a:ext cx="112334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6510">
            <a:solidFill>
              <a:srgbClr val="D58F89"/>
            </a:solidFill>
            <a:prstDash val="solid"/>
          </a:ln>
          <a:effectLst>
            <a:outerShdw sx="100000" sy="100000" kx="0" ky="0" algn="bl" rotWithShape="0" blurRad="12700" dist="12700" dir="2700000">
              <a:srgbClr val="2B2033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31822" y="2642616"/>
            <a:ext cx="9770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033"/>
                </a:solidFill>
              </a:rPr>
              <a:t>Instructor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44418" y="2532888"/>
            <a:ext cx="112334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6510">
            <a:solidFill>
              <a:srgbClr val="2B2033"/>
            </a:solidFill>
            <a:prstDash val="solid"/>
          </a:ln>
          <a:effectLst>
            <a:outerShdw sx="100000" sy="100000" kx="0" ky="0" algn="bl" rotWithShape="0" blurRad="12700" dist="12700" dir="2700000">
              <a:srgbClr val="2B2033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17570" y="2642616"/>
            <a:ext cx="9770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033"/>
                </a:solidFill>
              </a:rPr>
              <a:t>Administrator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87552" y="3749040"/>
            <a:ext cx="3465576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6510">
            <a:solidFill>
              <a:srgbClr val="CBB0BD"/>
            </a:solidFill>
            <a:prstDash val="solid"/>
          </a:ln>
          <a:effectLst>
            <a:outerShdw sx="100000" sy="100000" kx="0" ky="0" algn="bl" rotWithShape="0" blurRad="12700" dist="12700" dir="2700000">
              <a:srgbClr val="2B2033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60704" y="3858768"/>
            <a:ext cx="3319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033"/>
                </a:solidFill>
              </a:rPr>
              <a:t>Grades  •  Identity  •  Fees  •  Messages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20340" y="3355848"/>
            <a:ext cx="1" cy="347472"/>
          </a:xfrm>
          <a:prstGeom prst="line">
            <a:avLst/>
          </a:prstGeom>
          <a:noFill/>
          <a:ln w="25400">
            <a:solidFill>
              <a:srgbClr val="D58F89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60120" y="459943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46A73"/>
                </a:solidFill>
              </a:rPr>
              <a:t>Different users need different access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38928" y="1463040"/>
            <a:ext cx="580644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38928" y="1463040"/>
            <a:ext cx="82296" cy="1143000"/>
          </a:xfrm>
          <a:prstGeom prst="rect">
            <a:avLst/>
          </a:prstGeom>
          <a:solidFill>
            <a:srgbClr val="2B2033"/>
          </a:solidFill>
          <a:ln w="12700">
            <a:solidFill>
              <a:srgbClr val="2B20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58384" y="164592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033"/>
                </a:solidFill>
              </a:rPr>
              <a:t>Confidentiality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58384" y="2121408"/>
            <a:ext cx="539496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746A73"/>
                </a:solidFill>
              </a:rPr>
              <a:t>Only the student, authorized instructors, and approved staff can view protected records.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138928" y="2788920"/>
            <a:ext cx="580644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138928" y="2788920"/>
            <a:ext cx="82296" cy="1143000"/>
          </a:xfrm>
          <a:prstGeom prst="rect">
            <a:avLst/>
          </a:prstGeom>
          <a:solidFill>
            <a:srgbClr val="9C8199"/>
          </a:solidFill>
          <a:ln w="12700">
            <a:solidFill>
              <a:srgbClr val="9C81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58384" y="297180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033"/>
                </a:solidFill>
              </a:rPr>
              <a:t>Integrity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58384" y="3447288"/>
            <a:ext cx="539496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746A73"/>
                </a:solidFill>
              </a:rPr>
              <a:t>Grades change only through authorized workflows, with validation and audit evidence.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138928" y="4114800"/>
            <a:ext cx="580644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138928" y="4114800"/>
            <a:ext cx="82296" cy="1143000"/>
          </a:xfrm>
          <a:prstGeom prst="rect">
            <a:avLst/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58384" y="429768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033"/>
                </a:solidFill>
              </a:rPr>
              <a:t>Availability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58384" y="4773168"/>
            <a:ext cx="539496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746A73"/>
                </a:solidFill>
              </a:rPr>
              <a:t>Registration and learning services remain accessible, with capacity, backups, and recovery.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58368" y="5925312"/>
            <a:ext cx="10844784" cy="420624"/>
          </a:xfrm>
          <a:prstGeom prst="roundRect">
            <a:avLst>
              <a:gd name="adj" fmla="val 13043"/>
            </a:avLst>
          </a:prstGeom>
          <a:solidFill>
            <a:srgbClr val="F6E6E8"/>
          </a:solidFill>
          <a:ln w="12700">
            <a:solidFill>
              <a:srgbClr val="F2CB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6044184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033"/>
                </a:solidFill>
              </a:rPr>
              <a:t>PREDICT  →  Can one control support more than one CIA goal? Give an example.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6A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10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6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0" fill="hold" nodeType="clickEffect"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23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30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033"/>
                </a:solidFill>
              </a:rPr>
              <a:t>A user reaches a protected gradebook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11430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46A73"/>
                </a:solidFill>
              </a:rPr>
              <a:t>Build 1 of 3: first prove the identity.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" y="1572768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D58F89"/>
                </a:solidFill>
              </a:rPr>
              <a:t>1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874520" y="168249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033"/>
                </a:solidFill>
              </a:rPr>
              <a:t>Authentication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892808" y="237744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46A73"/>
                </a:solidFill>
              </a:rPr>
              <a:t>“Are you really the person you claim to be?”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995160" y="1325880"/>
            <a:ext cx="4343400" cy="4434840"/>
          </a:xfrm>
          <a:prstGeom prst="roundRect">
            <a:avLst>
              <a:gd name="adj" fmla="val 1684"/>
            </a:avLst>
          </a:prstGeom>
          <a:solidFill>
            <a:srgbClr val="F8EFF2"/>
          </a:solidFill>
          <a:ln w="12700">
            <a:solidFill>
              <a:srgbClr val="CBB0B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96328" y="1764792"/>
            <a:ext cx="1210056" cy="1051560"/>
          </a:xfrm>
          <a:prstGeom prst="roundRect">
            <a:avLst>
              <a:gd name="adj" fmla="val 4348"/>
            </a:avLst>
          </a:prstGeom>
          <a:solidFill>
            <a:srgbClr val="FCE9E6"/>
          </a:solidFill>
          <a:ln w="16510">
            <a:solidFill>
              <a:srgbClr val="D58F89"/>
            </a:solidFill>
            <a:prstDash val="solid"/>
          </a:ln>
          <a:effectLst>
            <a:outerShdw sx="100000" sy="100000" kx="0" ky="0" algn="bl" rotWithShape="0" blurRad="12700" dist="12700" dir="2700000">
              <a:srgbClr val="2B2033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269480" y="1874520"/>
            <a:ext cx="106375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033"/>
                </a:solidFill>
              </a:rPr>
              <a:t>1  AUTHENTICATE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B2033"/>
                </a:solidFill>
              </a:rPr>
              <a:t>Password + OTP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442960" y="2084832"/>
            <a:ext cx="256032" cy="310896"/>
          </a:xfrm>
          <a:prstGeom prst="chevron">
            <a:avLst/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10016" y="1764792"/>
            <a:ext cx="1210056" cy="1051560"/>
          </a:xfrm>
          <a:prstGeom prst="roundRect">
            <a:avLst>
              <a:gd name="adj" fmla="val 4348"/>
            </a:avLst>
          </a:prstGeom>
          <a:solidFill>
            <a:srgbClr val="F2E8EF"/>
          </a:solidFill>
          <a:ln w="16510">
            <a:solidFill>
              <a:srgbClr val="9C8199"/>
            </a:solidFill>
            <a:prstDash val="solid"/>
          </a:ln>
          <a:effectLst>
            <a:outerShdw sx="100000" sy="100000" kx="0" ky="0" algn="bl" rotWithShape="0" blurRad="12700" dist="12700" dir="2700000">
              <a:srgbClr val="2B2033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583168" y="1874520"/>
            <a:ext cx="106375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033"/>
                </a:solidFill>
              </a:rPr>
              <a:t>2  AUTHORIZE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B2033"/>
                </a:solidFill>
              </a:rPr>
              <a:t>Check role + permission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756648" y="2084832"/>
            <a:ext cx="256032" cy="310896"/>
          </a:xfrm>
          <a:prstGeom prst="chevron">
            <a:avLst/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23704" y="1764792"/>
            <a:ext cx="1210056" cy="1051560"/>
          </a:xfrm>
          <a:prstGeom prst="roundRect">
            <a:avLst>
              <a:gd name="adj" fmla="val 4348"/>
            </a:avLst>
          </a:prstGeom>
          <a:solidFill>
            <a:srgbClr val="EDE7F0"/>
          </a:solidFill>
          <a:ln w="16510">
            <a:solidFill>
              <a:srgbClr val="2B2033"/>
            </a:solidFill>
            <a:prstDash val="solid"/>
          </a:ln>
          <a:effectLst>
            <a:outerShdw sx="100000" sy="100000" kx="0" ky="0" algn="bl" rotWithShape="0" blurRad="12700" dist="12700" dir="2700000">
              <a:srgbClr val="2B2033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896856" y="1874520"/>
            <a:ext cx="106375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033"/>
                </a:solidFill>
              </a:rPr>
              <a:t>3  ACCOUNT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B2033"/>
                </a:solidFill>
              </a:rPr>
              <a:t>Record who, what, when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589520" y="3383280"/>
            <a:ext cx="315468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6510">
            <a:solidFill>
              <a:srgbClr val="3D7660"/>
            </a:solidFill>
            <a:prstDash val="solid"/>
          </a:ln>
          <a:effectLst>
            <a:outerShdw sx="100000" sy="100000" kx="0" ky="0" algn="bl" rotWithShape="0" blurRad="12700" dist="12700" dir="2700000">
              <a:srgbClr val="2B2033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662672" y="3493008"/>
            <a:ext cx="3008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033"/>
                </a:solidFill>
              </a:rPr>
              <a:t>Gradebook action allowed only after all three stages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836408" y="4480560"/>
            <a:ext cx="2660904" cy="502920"/>
          </a:xfrm>
          <a:prstGeom prst="roundRect">
            <a:avLst>
              <a:gd name="adj" fmla="val 9091"/>
            </a:avLst>
          </a:prstGeom>
          <a:solidFill>
            <a:srgbClr val="2B2033"/>
          </a:solidFill>
          <a:ln w="16510">
            <a:solidFill>
              <a:srgbClr val="2B2033"/>
            </a:solidFill>
            <a:prstDash val="solid"/>
          </a:ln>
          <a:effectLst>
            <a:outerShdw sx="100000" sy="100000" kx="0" ky="0" algn="bl" rotWithShape="0" blurRad="12700" dist="12700" dir="2700000">
              <a:srgbClr val="2B2033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909560" y="4590288"/>
            <a:ext cx="2514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033"/>
                </a:solidFill>
              </a:rPr>
              <a:t>Audit: acct-204 changed grade at 10:42 from device D7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4672" y="3154680"/>
            <a:ext cx="562356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" y="3154680"/>
            <a:ext cx="82296" cy="1417320"/>
          </a:xfrm>
          <a:prstGeom prst="rect">
            <a:avLst/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3337560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033"/>
                </a:solidFill>
              </a:rPr>
              <a:t>Real example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24128" y="3813048"/>
            <a:ext cx="521208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746A73"/>
                </a:solidFill>
              </a:rPr>
              <a:t>The portal checks a password and a one-time code before creating a session.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58368" y="5925312"/>
            <a:ext cx="10844784" cy="420624"/>
          </a:xfrm>
          <a:prstGeom prst="roundRect">
            <a:avLst>
              <a:gd name="adj" fmla="val 13043"/>
            </a:avLst>
          </a:prstGeom>
          <a:solidFill>
            <a:srgbClr val="F6E6E8"/>
          </a:solidFill>
          <a:ln w="12700">
            <a:solidFill>
              <a:srgbClr val="F2CB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6044184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033"/>
                </a:solidFill>
              </a:rPr>
              <a:t>PREDICT  →  If a student knows a password, should the system automatically allow every action?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6A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9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4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0" fill="hold" nodeType="clickEffect"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19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25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033"/>
                </a:solidFill>
              </a:rPr>
              <a:t>A user reaches a protected gradebook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11430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46A73"/>
                </a:solidFill>
              </a:rPr>
              <a:t>Build 2 of 3: decide what the verified identity may do.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60120" y="1847088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D58F89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217627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1. Authentication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0" y="2167128"/>
            <a:ext cx="594360" cy="502920"/>
          </a:xfrm>
          <a:prstGeom prst="chevron">
            <a:avLst/>
          </a:prstGeom>
          <a:solidFill>
            <a:srgbClr val="CBB0BD"/>
          </a:solidFill>
          <a:ln w="12700">
            <a:solidFill>
              <a:srgbClr val="CBB0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1847088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9C8199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0" y="217627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2. Authorization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960120" y="3429000"/>
            <a:ext cx="8641080" cy="1298448"/>
          </a:xfrm>
          <a:prstGeom prst="roundRect">
            <a:avLst>
              <a:gd name="adj" fmla="val 5634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3429000"/>
            <a:ext cx="82296" cy="1298448"/>
          </a:xfrm>
          <a:prstGeom prst="rect">
            <a:avLst/>
          </a:prstGeom>
          <a:solidFill>
            <a:srgbClr val="9C8199"/>
          </a:solidFill>
          <a:ln w="12700">
            <a:solidFill>
              <a:srgbClr val="9C81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9576" y="3611880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033"/>
                </a:solidFill>
              </a:rPr>
              <a:t>Authorization example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79576" y="4087368"/>
            <a:ext cx="82296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746A73"/>
                </a:solidFill>
              </a:rPr>
              <a:t>An instructor may enter grades for assigned sections. A student may view personal grades, but cannot edit them.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8368" y="5925312"/>
            <a:ext cx="10844784" cy="420624"/>
          </a:xfrm>
          <a:prstGeom prst="roundRect">
            <a:avLst>
              <a:gd name="adj" fmla="val 13043"/>
            </a:avLst>
          </a:prstGeom>
          <a:solidFill>
            <a:srgbClr val="F6E6E8"/>
          </a:solidFill>
          <a:ln w="12700">
            <a:solidFill>
              <a:srgbClr val="F2CB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6044184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033"/>
                </a:solidFill>
              </a:rPr>
              <a:t>PREDICT  →  Authentication asks “who?” Authorization asks which different question?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6A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6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8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0" fill="hold" nodeType="clickEffect"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12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14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033"/>
                </a:solidFill>
              </a:rPr>
              <a:t>A user reaches a protected gradebook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11430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46A73"/>
                </a:solidFill>
              </a:rPr>
              <a:t>Build 3 of 3: record actions so they can be traced.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13232" y="1600200"/>
            <a:ext cx="3246120" cy="1920240"/>
          </a:xfrm>
          <a:prstGeom prst="roundRect">
            <a:avLst>
              <a:gd name="adj" fmla="val 3810"/>
            </a:avLst>
          </a:prstGeom>
          <a:solidFill>
            <a:srgbClr val="D58F89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7824" y="1773936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CBC7"/>
                </a:solidFill>
              </a:rPr>
              <a:t>1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371600" y="18105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Authentication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33272" y="25146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4F5"/>
                </a:solidFill>
              </a:rPr>
              <a:t>Verify identity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07992" y="1600200"/>
            <a:ext cx="3246120" cy="1920240"/>
          </a:xfrm>
          <a:prstGeom prst="roundRect">
            <a:avLst>
              <a:gd name="adj" fmla="val 3810"/>
            </a:avLst>
          </a:prstGeom>
          <a:solidFill>
            <a:srgbClr val="9C8199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72584" y="1773936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CBC7"/>
                </a:solidFill>
              </a:rPr>
              <a:t>2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5166360" y="18105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Authorization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828032" y="25146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4F5"/>
                </a:solidFill>
              </a:rPr>
              <a:t>Apply permissions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302752" y="1600200"/>
            <a:ext cx="3246120" cy="1920240"/>
          </a:xfrm>
          <a:prstGeom prst="roundRect">
            <a:avLst>
              <a:gd name="adj" fmla="val 3810"/>
            </a:avLst>
          </a:prstGeom>
          <a:solidFill>
            <a:srgbClr val="2B2033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67344" y="1773936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CBC7"/>
                </a:solidFill>
              </a:rPr>
              <a:t>3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8961120" y="18105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Accountability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622792" y="25146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4F5"/>
                </a:solidFill>
              </a:rPr>
              <a:t>Record who did what and when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51560" y="4041648"/>
            <a:ext cx="10058400" cy="1115568"/>
          </a:xfrm>
          <a:prstGeom prst="roundRect">
            <a:avLst>
              <a:gd name="adj" fmla="val 6557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51560" y="4041648"/>
            <a:ext cx="82296" cy="1115568"/>
          </a:xfrm>
          <a:prstGeom prst="rect">
            <a:avLst/>
          </a:prstGeom>
          <a:solidFill>
            <a:srgbClr val="2B2033"/>
          </a:solidFill>
          <a:ln w="12700">
            <a:solidFill>
              <a:srgbClr val="2B20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71016" y="4224528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033"/>
                </a:solidFill>
              </a:rPr>
              <a:t>Accountability example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71016" y="4700016"/>
            <a:ext cx="9646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746A73"/>
                </a:solidFill>
              </a:rPr>
              <a:t>An audit record shows that a particular account changed a grade at 10:42, from a specific device, through an approved workflow.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58368" y="5925312"/>
            <a:ext cx="10844784" cy="420624"/>
          </a:xfrm>
          <a:prstGeom prst="roundRect">
            <a:avLst>
              <a:gd name="adj" fmla="val 13043"/>
            </a:avLst>
          </a:prstGeom>
          <a:solidFill>
            <a:srgbClr val="F6E6E8"/>
          </a:solidFill>
          <a:ln w="12700">
            <a:solidFill>
              <a:srgbClr val="F2CB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6044184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033"/>
                </a:solidFill>
              </a:rPr>
              <a:t>PREDICT  →  Why are shared administrator accounts dangerous for accountability?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6A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8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2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0" fill="hold" nodeType="clickEffect"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16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21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033"/>
                </a:solidFill>
              </a:rPr>
              <a:t>Threat, vulnerability, and attack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11430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46A73"/>
                </a:solidFill>
              </a:rPr>
              <a:t>Do not use these three terms as if they mean the same thing.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2331720" cy="1417320"/>
          </a:xfrm>
          <a:prstGeom prst="roundRect">
            <a:avLst>
              <a:gd name="adj" fmla="val 4516"/>
            </a:avLst>
          </a:prstGeom>
          <a:solidFill>
            <a:srgbClr val="FBE8E5"/>
          </a:solidFill>
          <a:ln w="19050">
            <a:solidFill>
              <a:srgbClr val="D58F8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2148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B2033"/>
                </a:solidFill>
              </a:rPr>
              <a:t>Threat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85800" y="2633472"/>
            <a:ext cx="1965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46A73"/>
                </a:solidFill>
              </a:rPr>
              <a:t>Possible source of harm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35224" y="2331720"/>
            <a:ext cx="384048" cy="438912"/>
          </a:xfrm>
          <a:prstGeom prst="chevron">
            <a:avLst/>
          </a:prstGeom>
          <a:solidFill>
            <a:srgbClr val="CBB0BD"/>
          </a:solidFill>
          <a:ln w="12700">
            <a:solidFill>
              <a:srgbClr val="CBB0B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0" y="1874520"/>
            <a:ext cx="2331720" cy="1417320"/>
          </a:xfrm>
          <a:prstGeom prst="roundRect">
            <a:avLst>
              <a:gd name="adj" fmla="val 4516"/>
            </a:avLst>
          </a:prstGeom>
          <a:solidFill>
            <a:srgbClr val="F2E7ED"/>
          </a:solidFill>
          <a:ln w="19050">
            <a:solidFill>
              <a:srgbClr val="9C81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2148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B2033"/>
                </a:solidFill>
              </a:rPr>
              <a:t>Vulnerability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566160" y="2633472"/>
            <a:ext cx="1965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46A73"/>
                </a:solidFill>
              </a:rPr>
              <a:t>Weakness that may be exploited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15584" y="2331720"/>
            <a:ext cx="384048" cy="438912"/>
          </a:xfrm>
          <a:prstGeom prst="chevron">
            <a:avLst/>
          </a:prstGeom>
          <a:solidFill>
            <a:srgbClr val="CBB0BD"/>
          </a:solidFill>
          <a:ln w="12700">
            <a:solidFill>
              <a:srgbClr val="CBB0B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874520"/>
            <a:ext cx="2331720" cy="1417320"/>
          </a:xfrm>
          <a:prstGeom prst="roundRect">
            <a:avLst>
              <a:gd name="adj" fmla="val 4516"/>
            </a:avLst>
          </a:prstGeom>
          <a:solidFill>
            <a:srgbClr val="FBE8E5"/>
          </a:solidFill>
          <a:ln w="19050">
            <a:solidFill>
              <a:srgbClr val="D58F8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2148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B2033"/>
                </a:solidFill>
              </a:rPr>
              <a:t>Attack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446520" y="2633472"/>
            <a:ext cx="1965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46A73"/>
                </a:solidFill>
              </a:rPr>
              <a:t>Action that attempts exploitation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95944" y="2331720"/>
            <a:ext cx="384048" cy="438912"/>
          </a:xfrm>
          <a:prstGeom prst="chevron">
            <a:avLst/>
          </a:prstGeom>
          <a:solidFill>
            <a:srgbClr val="CBB0BD"/>
          </a:solidFill>
          <a:ln w="12700">
            <a:solidFill>
              <a:srgbClr val="CBB0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0" y="1874520"/>
            <a:ext cx="2331720" cy="1417320"/>
          </a:xfrm>
          <a:prstGeom prst="roundRect">
            <a:avLst>
              <a:gd name="adj" fmla="val 4516"/>
            </a:avLst>
          </a:prstGeom>
          <a:solidFill>
            <a:srgbClr val="F2E7ED"/>
          </a:solidFill>
          <a:ln w="19050">
            <a:solidFill>
              <a:srgbClr val="9C81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08592" y="2148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B2033"/>
                </a:solidFill>
              </a:rPr>
              <a:t>Impact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326880" y="2633472"/>
            <a:ext cx="1965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46A73"/>
                </a:solidFill>
              </a:rPr>
              <a:t>Damage to the asset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4400" y="3977640"/>
            <a:ext cx="1033272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3977640"/>
            <a:ext cx="82296" cy="1097280"/>
          </a:xfrm>
          <a:prstGeom prst="rect">
            <a:avLst/>
          </a:prstGeom>
          <a:solidFill>
            <a:srgbClr val="2B2033"/>
          </a:solidFill>
          <a:ln w="12700">
            <a:solidFill>
              <a:srgbClr val="2B20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33856" y="416052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033"/>
                </a:solidFill>
              </a:rPr>
              <a:t>Example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33856" y="4636008"/>
            <a:ext cx="99212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746A73"/>
                </a:solidFill>
              </a:rPr>
              <a:t>Threat: criminal group → Vulnerability: reused password → Attack: credential login → Impact: grade data exposed or altered.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58368" y="5925312"/>
            <a:ext cx="10844784" cy="420624"/>
          </a:xfrm>
          <a:prstGeom prst="roundRect">
            <a:avLst>
              <a:gd name="adj" fmla="val 13043"/>
            </a:avLst>
          </a:prstGeom>
          <a:solidFill>
            <a:srgbClr val="F6E6E8"/>
          </a:solidFill>
          <a:ln w="12700">
            <a:solidFill>
              <a:srgbClr val="F2CB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6044184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033"/>
                </a:solidFill>
              </a:rPr>
              <a:t>PREDICT  →  If no one exploits a weakness yet, is it still a vulnerability?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6A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9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4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0" fill="hold" nodeType="clickEffect"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18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24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033"/>
                </a:solidFill>
              </a:rPr>
              <a:t>OSI security architecture: a common language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11430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46A73"/>
                </a:solidFill>
              </a:rPr>
              <a:t>Organize the problem into attacks, services, and mechanisms.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3246120" cy="3246120"/>
          </a:xfrm>
          <a:prstGeom prst="roundRect">
            <a:avLst>
              <a:gd name="adj" fmla="val 2254"/>
            </a:avLst>
          </a:prstGeom>
          <a:solidFill>
            <a:srgbClr val="2B2033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81051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30" kern="0" dirty="0">
                <a:solidFill>
                  <a:srgbClr val="F2CBC7"/>
                </a:solidFill>
              </a:rPr>
              <a:t>ATTACK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240487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can go wrong?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78992" y="3456432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5F5"/>
                </a:solidFill>
              </a:rPr>
              <a:t>Eavesdropping, replay, modification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07992" y="1508760"/>
            <a:ext cx="3246120" cy="3246120"/>
          </a:xfrm>
          <a:prstGeom prst="roundRect">
            <a:avLst>
              <a:gd name="adj" fmla="val 2254"/>
            </a:avLst>
          </a:prstGeom>
          <a:solidFill>
            <a:srgbClr val="9C8199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82312" y="181051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30" kern="0" dirty="0">
                <a:solidFill>
                  <a:srgbClr val="F2CBC7"/>
                </a:solidFill>
              </a:rPr>
              <a:t>SERVICE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28032" y="240487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protection is needed?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855464" y="3456432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5F5"/>
                </a:solidFill>
              </a:rPr>
              <a:t>Confidentiality, integrity, authentication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84464" y="1508760"/>
            <a:ext cx="3246120" cy="3246120"/>
          </a:xfrm>
          <a:prstGeom prst="roundRect">
            <a:avLst>
              <a:gd name="adj" fmla="val 2254"/>
            </a:avLst>
          </a:prstGeom>
          <a:solidFill>
            <a:srgbClr val="D58F89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58784" y="181051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30" kern="0" dirty="0">
                <a:solidFill>
                  <a:srgbClr val="F2CBC7"/>
                </a:solidFill>
              </a:rPr>
              <a:t>MECHANISM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04504" y="240487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How is protection delivered?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631936" y="3456432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5F5"/>
                </a:solidFill>
              </a:rPr>
              <a:t>Encryption, signatures, access control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8368" y="5925312"/>
            <a:ext cx="10844784" cy="420624"/>
          </a:xfrm>
          <a:prstGeom prst="roundRect">
            <a:avLst>
              <a:gd name="adj" fmla="val 13043"/>
            </a:avLst>
          </a:prstGeom>
          <a:solidFill>
            <a:srgbClr val="F6E6E8"/>
          </a:solidFill>
          <a:ln w="12700">
            <a:solidFill>
              <a:srgbClr val="F2CB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6044184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033"/>
                </a:solidFill>
              </a:rPr>
              <a:t>PREDICT  →  A security service says what; a mechanism says what different thing?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6A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7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0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0" fill="hold" nodeType="clickEffect"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14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17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033"/>
                </a:solidFill>
              </a:rPr>
              <a:t>Passive attacks: observe without changing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11430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46A73"/>
                </a:solidFill>
              </a:rPr>
              <a:t>The communication may continue normally, which makes detection difficult.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F8EFF2"/>
          </a:solidFill>
          <a:ln w="12700">
            <a:solidFill>
              <a:srgbClr val="CBB0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01368"/>
            <a:ext cx="9601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6510">
            <a:solidFill>
              <a:srgbClr val="9C8199"/>
            </a:solidFill>
            <a:prstDash val="solid"/>
          </a:ln>
          <a:effectLst>
            <a:outerShdw sx="100000" sy="100000" kx="0" ky="0" algn="bl" rotWithShape="0" blurRad="12700" dist="12700" dir="2700000">
              <a:srgbClr val="2B2033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41832" y="1911096"/>
            <a:ext cx="813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033"/>
                </a:solidFill>
              </a:rPr>
              <a:t>Alice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00600" y="1801368"/>
            <a:ext cx="9601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6510">
            <a:solidFill>
              <a:srgbClr val="9C8199"/>
            </a:solidFill>
            <a:prstDash val="solid"/>
          </a:ln>
          <a:effectLst>
            <a:outerShdw sx="100000" sy="100000" kx="0" ky="0" algn="bl" rotWithShape="0" blurRad="12700" dist="12700" dir="2700000">
              <a:srgbClr val="2B2033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73752" y="1911096"/>
            <a:ext cx="813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033"/>
                </a:solidFill>
              </a:rPr>
              <a:t>Bob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920240" y="2130552"/>
            <a:ext cx="2770632" cy="1"/>
          </a:xfrm>
          <a:prstGeom prst="line">
            <a:avLst/>
          </a:prstGeom>
          <a:noFill/>
          <a:ln w="38100">
            <a:solidFill>
              <a:srgbClr val="3D766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19299" y="1810512"/>
            <a:ext cx="1390802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6510">
            <a:solidFill>
              <a:srgbClr val="3D7660"/>
            </a:solidFill>
            <a:prstDash val="solid"/>
          </a:ln>
          <a:effectLst>
            <a:outerShdw sx="100000" sy="100000" kx="0" ky="0" algn="bl" rotWithShape="0" blurRad="12700" dist="12700" dir="2700000">
              <a:srgbClr val="2B2033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92451" y="1920240"/>
            <a:ext cx="124449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033"/>
                </a:solidFill>
              </a:rPr>
              <a:t>Encrypted message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72791" y="3246120"/>
            <a:ext cx="1283818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6510">
            <a:solidFill>
              <a:srgbClr val="A54854"/>
            </a:solidFill>
            <a:prstDash val="solid"/>
          </a:ln>
          <a:effectLst>
            <a:outerShdw sx="100000" sy="100000" kx="0" ky="0" algn="bl" rotWithShape="0" blurRad="12700" dist="12700" dir="2700000">
              <a:srgbClr val="2B2033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5943" y="3355848"/>
            <a:ext cx="113751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033"/>
                </a:solidFill>
              </a:rPr>
              <a:t>Observer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flipV="1">
            <a:off x="3314700" y="2496312"/>
            <a:ext cx="1" cy="658368"/>
          </a:xfrm>
          <a:prstGeom prst="line">
            <a:avLst/>
          </a:prstGeom>
          <a:noFill/>
          <a:ln w="25400">
            <a:solidFill>
              <a:srgbClr val="A5485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051560" y="4270248"/>
            <a:ext cx="2032711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6510">
            <a:solidFill>
              <a:srgbClr val="D58F89"/>
            </a:solidFill>
            <a:prstDash val="solid"/>
          </a:ln>
          <a:effectLst>
            <a:outerShdw sx="100000" sy="100000" kx="0" ky="0" algn="bl" rotWithShape="0" blurRad="12700" dist="12700" dir="2700000">
              <a:srgbClr val="2B2033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124712" y="4379976"/>
            <a:ext cx="188640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033"/>
                </a:solidFill>
              </a:rPr>
              <a:t>Reads content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B2033"/>
                </a:solidFill>
              </a:rPr>
              <a:t>if unprotected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5177" y="4270248"/>
            <a:ext cx="2032711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6510">
            <a:solidFill>
              <a:srgbClr val="9C8199"/>
            </a:solidFill>
            <a:prstDash val="solid"/>
          </a:ln>
          <a:effectLst>
            <a:outerShdw sx="100000" sy="100000" kx="0" ky="0" algn="bl" rotWithShape="0" blurRad="12700" dist="12700" dir="2700000">
              <a:srgbClr val="2B2033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548329" y="4379976"/>
            <a:ext cx="188640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033"/>
                </a:solidFill>
              </a:rPr>
              <a:t>Studies timing, size,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B2033"/>
                </a:solidFill>
              </a:rPr>
              <a:t>and endpoints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91072" y="1508760"/>
            <a:ext cx="4846320" cy="1115568"/>
          </a:xfrm>
          <a:prstGeom prst="roundRect">
            <a:avLst>
              <a:gd name="adj" fmla="val 6557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91072" y="1508760"/>
            <a:ext cx="82296" cy="1115568"/>
          </a:xfrm>
          <a:prstGeom prst="rect">
            <a:avLst/>
          </a:prstGeom>
          <a:solidFill>
            <a:srgbClr val="9C8199"/>
          </a:solidFill>
          <a:ln w="12700">
            <a:solidFill>
              <a:srgbClr val="9C81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0528" y="169164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033"/>
                </a:solidFill>
              </a:rPr>
              <a:t>Release of message contents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10528" y="2167128"/>
            <a:ext cx="4434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746A73"/>
                </a:solidFill>
              </a:rPr>
              <a:t>An attacker reads email, files, voice, or other protected communication.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291072" y="2834640"/>
            <a:ext cx="4846320" cy="1115568"/>
          </a:xfrm>
          <a:prstGeom prst="roundRect">
            <a:avLst>
              <a:gd name="adj" fmla="val 6557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91072" y="2834640"/>
            <a:ext cx="82296" cy="1115568"/>
          </a:xfrm>
          <a:prstGeom prst="rect">
            <a:avLst/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10528" y="301752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033"/>
                </a:solidFill>
              </a:rPr>
              <a:t>Traffic analysis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510528" y="3493008"/>
            <a:ext cx="4434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746A73"/>
                </a:solidFill>
              </a:rPr>
              <a:t>An attacker studies timing, volume, endpoints, and patterns even if content is encrypted.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291072" y="4160520"/>
            <a:ext cx="4846320" cy="1115568"/>
          </a:xfrm>
          <a:prstGeom prst="roundRect">
            <a:avLst>
              <a:gd name="adj" fmla="val 6557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91072" y="4160520"/>
            <a:ext cx="82296" cy="1115568"/>
          </a:xfrm>
          <a:prstGeom prst="rect">
            <a:avLst/>
          </a:prstGeom>
          <a:solidFill>
            <a:srgbClr val="2B2033"/>
          </a:solidFill>
          <a:ln w="12700">
            <a:solidFill>
              <a:srgbClr val="2B20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10528" y="434340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033"/>
                </a:solidFill>
              </a:rPr>
              <a:t>Main defense idea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510528" y="4818888"/>
            <a:ext cx="4434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746A73"/>
                </a:solidFill>
              </a:rPr>
              <a:t>Emphasize prevention: encryption plus traffic protection where needed.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58368" y="5925312"/>
            <a:ext cx="10844784" cy="420624"/>
          </a:xfrm>
          <a:prstGeom prst="roundRect">
            <a:avLst>
              <a:gd name="adj" fmla="val 13043"/>
            </a:avLst>
          </a:prstGeom>
          <a:solidFill>
            <a:srgbClr val="F6E6E8"/>
          </a:solidFill>
          <a:ln w="12700">
            <a:solidFill>
              <a:srgbClr val="F2CB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6044184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033"/>
                </a:solidFill>
              </a:rPr>
              <a:t>PREDICT  →  Can encryption hide every fact about a communication?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6A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11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8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0" fill="hold" nodeType="clickEffect"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25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32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033"/>
                </a:solidFill>
              </a:rPr>
              <a:t>Active attacks: change or disrupt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11430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46A73"/>
                </a:solidFill>
              </a:rPr>
              <a:t>Prevention matters, but rapid detection, containment, and recovery are also essential.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444752"/>
            <a:ext cx="5138928" cy="1536192"/>
          </a:xfrm>
          <a:prstGeom prst="roundRect">
            <a:avLst>
              <a:gd name="adj" fmla="val 4762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44752"/>
            <a:ext cx="82296" cy="1536192"/>
          </a:xfrm>
          <a:prstGeom prst="rect">
            <a:avLst/>
          </a:prstGeom>
          <a:solidFill>
            <a:srgbClr val="9C8199"/>
          </a:solidFill>
          <a:ln w="12700">
            <a:solidFill>
              <a:srgbClr val="9C81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1627632"/>
            <a:ext cx="4773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033"/>
                </a:solidFill>
              </a:rPr>
              <a:t>Masquerade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05256" y="2103120"/>
            <a:ext cx="4727448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746A73"/>
                </a:solidFill>
              </a:rPr>
              <a:t>Pretend to be another entity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746A73"/>
                </a:solidFill>
              </a:rPr>
              <a:t>Example: stolen account sends a fake request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444752"/>
            <a:ext cx="5138928" cy="1536192"/>
          </a:xfrm>
          <a:prstGeom prst="roundRect">
            <a:avLst>
              <a:gd name="adj" fmla="val 4762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1444752"/>
            <a:ext cx="82296" cy="1536192"/>
          </a:xfrm>
          <a:prstGeom prst="rect">
            <a:avLst/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28816" y="1627632"/>
            <a:ext cx="4773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033"/>
                </a:solidFill>
              </a:rPr>
              <a:t>Replay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28816" y="2103120"/>
            <a:ext cx="4727448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746A73"/>
                </a:solidFill>
              </a:rPr>
              <a:t>Capture and resend valid data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746A73"/>
                </a:solidFill>
              </a:rPr>
              <a:t>Example: old payment approval is sent again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3319272"/>
            <a:ext cx="5138928" cy="1536192"/>
          </a:xfrm>
          <a:prstGeom prst="roundRect">
            <a:avLst>
              <a:gd name="adj" fmla="val 4762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3319272"/>
            <a:ext cx="82296" cy="1536192"/>
          </a:xfrm>
          <a:prstGeom prst="rect">
            <a:avLst/>
          </a:prstGeom>
          <a:solidFill>
            <a:srgbClr val="9C8199"/>
          </a:solidFill>
          <a:ln w="12700">
            <a:solidFill>
              <a:srgbClr val="9C81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" y="3502152"/>
            <a:ext cx="4773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033"/>
                </a:solidFill>
              </a:rPr>
              <a:t>Modification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05256" y="3977640"/>
            <a:ext cx="4727448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746A73"/>
                </a:solidFill>
              </a:rPr>
              <a:t>Alter, reorder, delay, or delete messages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746A73"/>
                </a:solidFill>
              </a:rPr>
              <a:t>Example: destination account is changed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09360" y="3319272"/>
            <a:ext cx="5138928" cy="1536192"/>
          </a:xfrm>
          <a:prstGeom prst="roundRect">
            <a:avLst>
              <a:gd name="adj" fmla="val 4762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3319272"/>
            <a:ext cx="82296" cy="1536192"/>
          </a:xfrm>
          <a:prstGeom prst="rect">
            <a:avLst/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28816" y="3502152"/>
            <a:ext cx="4773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033"/>
                </a:solidFill>
              </a:rPr>
              <a:t>Denial of service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28816" y="3977640"/>
            <a:ext cx="4727448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746A73"/>
                </a:solidFill>
              </a:rPr>
              <a:t>Reduce or block normal access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746A73"/>
                </a:solidFill>
              </a:rPr>
              <a:t>Example: registration portal is flooded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58368" y="5925312"/>
            <a:ext cx="10844784" cy="420624"/>
          </a:xfrm>
          <a:prstGeom prst="roundRect">
            <a:avLst>
              <a:gd name="adj" fmla="val 13043"/>
            </a:avLst>
          </a:prstGeom>
          <a:solidFill>
            <a:srgbClr val="F6E6E8"/>
          </a:solidFill>
          <a:ln w="12700">
            <a:solidFill>
              <a:srgbClr val="F2CB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6044184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033"/>
                </a:solidFill>
              </a:rPr>
              <a:t>PREDICT  →  Which active attack can use a perfectly valid old message?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6A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8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2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0" fill="hold" nodeType="clickEffect"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18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21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033"/>
                </a:solidFill>
              </a:rPr>
              <a:t>Replay attack: the message is valid, but the context is not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11430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46A73"/>
                </a:solidFill>
              </a:rPr>
              <a:t>Animation sequence: capture → wait → resend → reject.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2103120" cy="2057400"/>
          </a:xfrm>
          <a:prstGeom prst="roundRect">
            <a:avLst>
              <a:gd name="adj" fmla="val 3556"/>
            </a:avLst>
          </a:prstGeom>
          <a:solidFill>
            <a:srgbClr val="FCEAE7"/>
          </a:solidFill>
          <a:ln w="17780">
            <a:solidFill>
              <a:srgbClr val="D58F8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3816" y="208483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033"/>
                </a:solidFill>
              </a:rPr>
              <a:t>1. CAPTURE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86968" y="2670048"/>
            <a:ext cx="1700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46A73"/>
                </a:solidFill>
              </a:rPr>
              <a:t>Attacker records a valid request.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26080" y="2587752"/>
            <a:ext cx="429768" cy="438912"/>
          </a:xfrm>
          <a:prstGeom prst="chevron">
            <a:avLst/>
          </a:prstGeom>
          <a:solidFill>
            <a:srgbClr val="CBB0BD"/>
          </a:solidFill>
          <a:ln w="12700">
            <a:solidFill>
              <a:srgbClr val="CBB0B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20440" y="1828800"/>
            <a:ext cx="2103120" cy="2057400"/>
          </a:xfrm>
          <a:prstGeom prst="roundRect">
            <a:avLst>
              <a:gd name="adj" fmla="val 3556"/>
            </a:avLst>
          </a:prstGeom>
          <a:solidFill>
            <a:srgbClr val="F4E9EF"/>
          </a:solidFill>
          <a:ln w="17780">
            <a:solidFill>
              <a:srgbClr val="9C81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48456" y="208483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033"/>
                </a:solidFill>
              </a:rPr>
              <a:t>2. WAIT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21608" y="2670048"/>
            <a:ext cx="1700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46A73"/>
                </a:solidFill>
              </a:rPr>
              <a:t>The original transaction completes.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60720" y="2587752"/>
            <a:ext cx="429768" cy="438912"/>
          </a:xfrm>
          <a:prstGeom prst="chevron">
            <a:avLst/>
          </a:prstGeom>
          <a:solidFill>
            <a:srgbClr val="CBB0BD"/>
          </a:solidFill>
          <a:ln w="12700">
            <a:solidFill>
              <a:srgbClr val="CBB0B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1828800"/>
            <a:ext cx="2103120" cy="2057400"/>
          </a:xfrm>
          <a:prstGeom prst="roundRect">
            <a:avLst>
              <a:gd name="adj" fmla="val 3556"/>
            </a:avLst>
          </a:prstGeom>
          <a:solidFill>
            <a:srgbClr val="FCEAE7"/>
          </a:solidFill>
          <a:ln w="17780">
            <a:solidFill>
              <a:srgbClr val="D58F8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3096" y="208483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033"/>
                </a:solidFill>
              </a:rPr>
              <a:t>3. RESEND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56248" y="2670048"/>
            <a:ext cx="1700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46A73"/>
                </a:solidFill>
              </a:rPr>
              <a:t>The same request is transmitted again.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595360" y="2587752"/>
            <a:ext cx="429768" cy="438912"/>
          </a:xfrm>
          <a:prstGeom prst="chevron">
            <a:avLst/>
          </a:prstGeom>
          <a:solidFill>
            <a:srgbClr val="CBB0BD"/>
          </a:solidFill>
          <a:ln w="12700">
            <a:solidFill>
              <a:srgbClr val="CBB0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89720" y="1828800"/>
            <a:ext cx="2103120" cy="2057400"/>
          </a:xfrm>
          <a:prstGeom prst="roundRect">
            <a:avLst>
              <a:gd name="adj" fmla="val 3556"/>
            </a:avLst>
          </a:prstGeom>
          <a:solidFill>
            <a:srgbClr val="E4F1EC"/>
          </a:solidFill>
          <a:ln w="17780">
            <a:solidFill>
              <a:srgbClr val="3D76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17736" y="208483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033"/>
                </a:solidFill>
              </a:rPr>
              <a:t>4. VERIFY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390888" y="2670048"/>
            <a:ext cx="1700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46A73"/>
                </a:solidFill>
              </a:rPr>
              <a:t>Receiver checks freshness evidence.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188720" y="4370832"/>
            <a:ext cx="9829800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188720" y="4370832"/>
            <a:ext cx="82296" cy="960120"/>
          </a:xfrm>
          <a:prstGeom prst="rect">
            <a:avLst/>
          </a:prstGeom>
          <a:solidFill>
            <a:srgbClr val="3D7660"/>
          </a:solidFill>
          <a:ln w="12700">
            <a:solidFill>
              <a:srgbClr val="3D76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08176" y="4553712"/>
            <a:ext cx="9464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033"/>
                </a:solidFill>
              </a:rPr>
              <a:t>Freshness controls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08176" y="5029200"/>
            <a:ext cx="941832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746A73"/>
                </a:solidFill>
              </a:rPr>
              <a:t>Nonces, timestamps, sequence numbers, and unique transaction identifiers help a receiver recognize duplicates.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6A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8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2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0" fill="hold" nodeType="clickEffect"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16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21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033"/>
                </a:solidFill>
              </a:rPr>
              <a:t>Security services versus mechanisms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11430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46A73"/>
                </a:solidFill>
              </a:rPr>
              <a:t>The service states the required protection. The mechanism delivers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58952" y="1417320"/>
            <a:ext cx="4343400" cy="594360"/>
          </a:xfrm>
          <a:prstGeom prst="roundRect">
            <a:avLst>
              <a:gd name="adj" fmla="val 7692"/>
            </a:avLst>
          </a:prstGeom>
          <a:solidFill>
            <a:srgbClr val="F1E7ED"/>
          </a:solidFill>
          <a:ln w="12700">
            <a:solidFill>
              <a:srgbClr val="E4D1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5819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033"/>
                </a:solidFill>
              </a:rPr>
              <a:t>Confidentiality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303520" y="1499616"/>
            <a:ext cx="594360" cy="429768"/>
          </a:xfrm>
          <a:prstGeom prst="chevron">
            <a:avLst/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1417320"/>
            <a:ext cx="5212080" cy="594360"/>
          </a:xfrm>
          <a:prstGeom prst="roundRect">
            <a:avLst>
              <a:gd name="adj" fmla="val 7692"/>
            </a:avLst>
          </a:prstGeom>
          <a:solidFill>
            <a:srgbClr val="FCEAE7"/>
          </a:solidFill>
          <a:ln w="12700">
            <a:solidFill>
              <a:srgbClr val="E4D1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82512" y="158191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033"/>
                </a:solidFill>
              </a:rPr>
              <a:t>Encryption, access control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58952" y="2249424"/>
            <a:ext cx="4343400" cy="594360"/>
          </a:xfrm>
          <a:prstGeom prst="roundRect">
            <a:avLst>
              <a:gd name="adj" fmla="val 7692"/>
            </a:avLst>
          </a:prstGeom>
          <a:solidFill>
            <a:srgbClr val="F1E7ED"/>
          </a:solidFill>
          <a:ln w="12700">
            <a:solidFill>
              <a:srgbClr val="E4D1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4140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033"/>
                </a:solidFill>
              </a:rPr>
              <a:t>Integrity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03520" y="2331720"/>
            <a:ext cx="594360" cy="429768"/>
          </a:xfrm>
          <a:prstGeom prst="chevron">
            <a:avLst/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2249424"/>
            <a:ext cx="5212080" cy="594360"/>
          </a:xfrm>
          <a:prstGeom prst="roundRect">
            <a:avLst>
              <a:gd name="adj" fmla="val 7692"/>
            </a:avLst>
          </a:prstGeom>
          <a:solidFill>
            <a:srgbClr val="FCEAE7"/>
          </a:solidFill>
          <a:ln w="12700">
            <a:solidFill>
              <a:srgbClr val="E4D1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2414016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033"/>
                </a:solidFill>
              </a:rPr>
              <a:t>MACs, hashes, digital signatures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58952" y="3081528"/>
            <a:ext cx="4343400" cy="594360"/>
          </a:xfrm>
          <a:prstGeom prst="roundRect">
            <a:avLst>
              <a:gd name="adj" fmla="val 7692"/>
            </a:avLst>
          </a:prstGeom>
          <a:solidFill>
            <a:srgbClr val="F1E7ED"/>
          </a:solidFill>
          <a:ln w="12700">
            <a:solidFill>
              <a:srgbClr val="E4D1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2461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033"/>
                </a:solidFill>
              </a:rPr>
              <a:t>Authentication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03520" y="3163824"/>
            <a:ext cx="594360" cy="429768"/>
          </a:xfrm>
          <a:prstGeom prst="chevron">
            <a:avLst/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3081528"/>
            <a:ext cx="5212080" cy="594360"/>
          </a:xfrm>
          <a:prstGeom prst="roundRect">
            <a:avLst>
              <a:gd name="adj" fmla="val 7692"/>
            </a:avLst>
          </a:prstGeom>
          <a:solidFill>
            <a:srgbClr val="FCEAE7"/>
          </a:solidFill>
          <a:ln w="12700">
            <a:solidFill>
              <a:srgbClr val="E4D1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2512" y="3246120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033"/>
                </a:solidFill>
              </a:rPr>
              <a:t>Passwords, MFA, certificates, protocols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8952" y="3913632"/>
            <a:ext cx="4343400" cy="594360"/>
          </a:xfrm>
          <a:prstGeom prst="roundRect">
            <a:avLst>
              <a:gd name="adj" fmla="val 7692"/>
            </a:avLst>
          </a:prstGeom>
          <a:solidFill>
            <a:srgbClr val="F1E7ED"/>
          </a:solidFill>
          <a:ln w="12700">
            <a:solidFill>
              <a:srgbClr val="E4D1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0782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033"/>
                </a:solidFill>
              </a:rPr>
              <a:t>Non-repudiation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03520" y="3995928"/>
            <a:ext cx="594360" cy="429768"/>
          </a:xfrm>
          <a:prstGeom prst="chevron">
            <a:avLst/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3913632"/>
            <a:ext cx="5212080" cy="594360"/>
          </a:xfrm>
          <a:prstGeom prst="roundRect">
            <a:avLst>
              <a:gd name="adj" fmla="val 7692"/>
            </a:avLst>
          </a:prstGeom>
          <a:solidFill>
            <a:srgbClr val="FCEAE7"/>
          </a:solidFill>
          <a:ln w="12700">
            <a:solidFill>
              <a:srgbClr val="E4D1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4078224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033"/>
                </a:solidFill>
              </a:rPr>
              <a:t>Digital signatures, trusted evidence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58952" y="4745736"/>
            <a:ext cx="4343400" cy="594360"/>
          </a:xfrm>
          <a:prstGeom prst="roundRect">
            <a:avLst>
              <a:gd name="adj" fmla="val 7692"/>
            </a:avLst>
          </a:prstGeom>
          <a:solidFill>
            <a:srgbClr val="F1E7ED"/>
          </a:solidFill>
          <a:ln w="12700">
            <a:solidFill>
              <a:srgbClr val="E4D1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9103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033"/>
                </a:solidFill>
              </a:rPr>
              <a:t>Access control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303520" y="4828032"/>
            <a:ext cx="594360" cy="429768"/>
          </a:xfrm>
          <a:prstGeom prst="chevron">
            <a:avLst/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4745736"/>
            <a:ext cx="5212080" cy="594360"/>
          </a:xfrm>
          <a:prstGeom prst="roundRect">
            <a:avLst>
              <a:gd name="adj" fmla="val 7692"/>
            </a:avLst>
          </a:prstGeom>
          <a:solidFill>
            <a:srgbClr val="FCEAE7"/>
          </a:solidFill>
          <a:ln w="12700">
            <a:solidFill>
              <a:srgbClr val="E4D1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82512" y="4910328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033"/>
                </a:solidFill>
              </a:rPr>
              <a:t>Permissions, roles, policy enforcement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58368" y="5925312"/>
            <a:ext cx="10844784" cy="420624"/>
          </a:xfrm>
          <a:prstGeom prst="roundRect">
            <a:avLst>
              <a:gd name="adj" fmla="val 13043"/>
            </a:avLst>
          </a:prstGeom>
          <a:solidFill>
            <a:srgbClr val="F6E6E8"/>
          </a:solidFill>
          <a:ln w="12700">
            <a:solidFill>
              <a:srgbClr val="F2CB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6044184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033"/>
                </a:solidFill>
              </a:rPr>
              <a:t>PREDICT  →  Is encryption always the right mechanism for every security service?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6A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10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7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0" fill="hold" nodeType="clickEffect"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24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30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033"/>
                </a:solidFill>
              </a:rPr>
              <a:t>Basic network-security model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11430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46A73"/>
                </a:solidFill>
              </a:rPr>
              <a:t>Security requires protected communication, trusted keys, protocols, and operational controls.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" y="1371600"/>
            <a:ext cx="4800600" cy="4526280"/>
          </a:xfrm>
          <a:prstGeom prst="roundRect">
            <a:avLst>
              <a:gd name="adj" fmla="val 1616"/>
            </a:avLst>
          </a:prstGeom>
          <a:solidFill>
            <a:srgbClr val="F8EFF2"/>
          </a:solidFill>
          <a:ln w="12700">
            <a:solidFill>
              <a:srgbClr val="CBB0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965960"/>
            <a:ext cx="1026414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6510">
            <a:solidFill>
              <a:srgbClr val="9C8199"/>
            </a:solidFill>
            <a:prstDash val="solid"/>
          </a:ln>
          <a:effectLst>
            <a:outerShdw sx="100000" sy="100000" kx="0" ky="0" algn="bl" rotWithShape="0" blurRad="12700" dist="12700" dir="2700000">
              <a:srgbClr val="2B2033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075688"/>
            <a:ext cx="88011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033"/>
                </a:solidFill>
              </a:rPr>
              <a:t>Sender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95094" y="2185416"/>
            <a:ext cx="228600" cy="292608"/>
          </a:xfrm>
          <a:prstGeom prst="chevron">
            <a:avLst/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49958" y="1965960"/>
            <a:ext cx="1026414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6510">
            <a:solidFill>
              <a:srgbClr val="3D7660"/>
            </a:solidFill>
            <a:prstDash val="solid"/>
          </a:ln>
          <a:effectLst>
            <a:outerShdw sx="100000" sy="100000" kx="0" ky="0" algn="bl" rotWithShape="0" blurRad="12700" dist="12700" dir="2700000">
              <a:srgbClr val="2B2033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23110" y="2075688"/>
            <a:ext cx="88011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033"/>
                </a:solidFill>
              </a:rPr>
              <a:t>Security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B2033"/>
                </a:solidFill>
              </a:rPr>
              <a:t>transform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003804" y="2185416"/>
            <a:ext cx="228600" cy="292608"/>
          </a:xfrm>
          <a:prstGeom prst="chevron">
            <a:avLst/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58668" y="1965960"/>
            <a:ext cx="1026414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6510">
            <a:solidFill>
              <a:srgbClr val="D58F89"/>
            </a:solidFill>
            <a:prstDash val="solid"/>
          </a:ln>
          <a:effectLst>
            <a:outerShdw sx="100000" sy="100000" kx="0" ky="0" algn="bl" rotWithShape="0" blurRad="12700" dist="12700" dir="2700000">
              <a:srgbClr val="2B2033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131820" y="2075688"/>
            <a:ext cx="88011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033"/>
                </a:solidFill>
              </a:rPr>
              <a:t>Network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2514" y="2185416"/>
            <a:ext cx="228600" cy="292608"/>
          </a:xfrm>
          <a:prstGeom prst="chevron">
            <a:avLst/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67378" y="1965960"/>
            <a:ext cx="1026414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6510">
            <a:solidFill>
              <a:srgbClr val="9C8199"/>
            </a:solidFill>
            <a:prstDash val="solid"/>
          </a:ln>
          <a:effectLst>
            <a:outerShdw sx="100000" sy="100000" kx="0" ky="0" algn="bl" rotWithShape="0" blurRad="12700" dist="12700" dir="2700000">
              <a:srgbClr val="2B2033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40530" y="2075688"/>
            <a:ext cx="88011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033"/>
                </a:solidFill>
              </a:rPr>
              <a:t>Receiver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386584" y="3310128"/>
            <a:ext cx="1344168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6510">
            <a:solidFill>
              <a:srgbClr val="A54854"/>
            </a:solidFill>
            <a:prstDash val="solid"/>
          </a:ln>
          <a:effectLst>
            <a:outerShdw sx="100000" sy="100000" kx="0" ky="0" algn="bl" rotWithShape="0" blurRad="12700" dist="12700" dir="2700000">
              <a:srgbClr val="2B2033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459736" y="3419856"/>
            <a:ext cx="119786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033"/>
                </a:solidFill>
              </a:rPr>
              <a:t>Attacker observes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B2033"/>
                </a:solidFill>
              </a:rPr>
              <a:t>or changes traffic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 flipV="1">
            <a:off x="3058668" y="2779776"/>
            <a:ext cx="1" cy="438912"/>
          </a:xfrm>
          <a:prstGeom prst="line">
            <a:avLst/>
          </a:prstGeom>
          <a:noFill/>
          <a:ln w="25400">
            <a:solidFill>
              <a:srgbClr val="A5485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252728" y="4434840"/>
            <a:ext cx="3611880" cy="566928"/>
          </a:xfrm>
          <a:prstGeom prst="roundRect">
            <a:avLst>
              <a:gd name="adj" fmla="val 8065"/>
            </a:avLst>
          </a:prstGeom>
          <a:solidFill>
            <a:srgbClr val="2B2033"/>
          </a:solidFill>
          <a:ln w="16510">
            <a:solidFill>
              <a:srgbClr val="2B2033"/>
            </a:solidFill>
            <a:prstDash val="solid"/>
          </a:ln>
          <a:effectLst>
            <a:outerShdw sx="100000" sy="100000" kx="0" ky="0" algn="bl" rotWithShape="0" blurRad="12700" dist="12700" dir="2700000">
              <a:srgbClr val="2B2033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325880" y="4544568"/>
            <a:ext cx="3465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033"/>
                </a:solidFill>
              </a:rPr>
              <a:t>Key / trusted third party supports the security transformation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715000" y="1901952"/>
            <a:ext cx="1298448" cy="987552"/>
          </a:xfrm>
          <a:prstGeom prst="roundRect">
            <a:avLst>
              <a:gd name="adj" fmla="val 5556"/>
            </a:avLst>
          </a:prstGeom>
          <a:solidFill>
            <a:srgbClr val="EFE5EB"/>
          </a:solidFill>
          <a:ln w="12700">
            <a:solidFill>
              <a:srgbClr val="9C81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06440" y="2167128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033"/>
                </a:solidFill>
              </a:rPr>
              <a:t>Sender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059168" y="2203704"/>
            <a:ext cx="155448" cy="347472"/>
          </a:xfrm>
          <a:prstGeom prst="chevron">
            <a:avLst/>
          </a:prstGeom>
          <a:solidFill>
            <a:srgbClr val="CBB0BD"/>
          </a:solidFill>
          <a:ln w="12700">
            <a:solidFill>
              <a:srgbClr val="CBB0B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23760" y="1901952"/>
            <a:ext cx="1298448" cy="987552"/>
          </a:xfrm>
          <a:prstGeom prst="roundRect">
            <a:avLst>
              <a:gd name="adj" fmla="val 5556"/>
            </a:avLst>
          </a:prstGeom>
          <a:solidFill>
            <a:srgbClr val="EFE5EB"/>
          </a:solidFill>
          <a:ln w="12700">
            <a:solidFill>
              <a:srgbClr val="9C81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0" y="2167128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033"/>
                </a:solidFill>
              </a:rPr>
              <a:t>Security transformation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567928" y="2203704"/>
            <a:ext cx="155448" cy="347472"/>
          </a:xfrm>
          <a:prstGeom prst="chevron">
            <a:avLst/>
          </a:prstGeom>
          <a:solidFill>
            <a:srgbClr val="CBB0BD"/>
          </a:solidFill>
          <a:ln w="12700">
            <a:solidFill>
              <a:srgbClr val="CBB0B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32520" y="1901952"/>
            <a:ext cx="1298448" cy="987552"/>
          </a:xfrm>
          <a:prstGeom prst="roundRect">
            <a:avLst>
              <a:gd name="adj" fmla="val 5556"/>
            </a:avLst>
          </a:prstGeom>
          <a:solidFill>
            <a:srgbClr val="FCE6E3"/>
          </a:solidFill>
          <a:ln w="12700">
            <a:solidFill>
              <a:srgbClr val="D58F8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23960" y="2167128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033"/>
                </a:solidFill>
              </a:rPr>
              <a:t>Network / opponent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10076688" y="2203704"/>
            <a:ext cx="155448" cy="347472"/>
          </a:xfrm>
          <a:prstGeom prst="chevron">
            <a:avLst/>
          </a:prstGeom>
          <a:solidFill>
            <a:srgbClr val="CBB0BD"/>
          </a:solidFill>
          <a:ln w="12700">
            <a:solidFill>
              <a:srgbClr val="CBB0B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241280" y="1901952"/>
            <a:ext cx="1298448" cy="987552"/>
          </a:xfrm>
          <a:prstGeom prst="roundRect">
            <a:avLst>
              <a:gd name="adj" fmla="val 5556"/>
            </a:avLst>
          </a:prstGeom>
          <a:solidFill>
            <a:srgbClr val="EFE5EB"/>
          </a:solidFill>
          <a:ln w="12700">
            <a:solidFill>
              <a:srgbClr val="9C81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32720" y="2167128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033"/>
                </a:solidFill>
              </a:rPr>
              <a:t>Receiver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715000" y="3429000"/>
            <a:ext cx="5486400" cy="1389888"/>
          </a:xfrm>
          <a:prstGeom prst="roundRect">
            <a:avLst>
              <a:gd name="adj" fmla="val 5263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715000" y="3429000"/>
            <a:ext cx="82296" cy="1389888"/>
          </a:xfrm>
          <a:prstGeom prst="rect">
            <a:avLst/>
          </a:prstGeom>
          <a:solidFill>
            <a:srgbClr val="2B2033"/>
          </a:solidFill>
          <a:ln w="12700">
            <a:solidFill>
              <a:srgbClr val="2B20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34456" y="36118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033"/>
                </a:solidFill>
              </a:rPr>
              <a:t>Trusted third party or key infrastructure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934456" y="4087368"/>
            <a:ext cx="50749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746A73"/>
                </a:solidFill>
              </a:rPr>
              <a:t>May distribute keys, certify identities, provide timestamps, or support trust decisions.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658368" y="5925312"/>
            <a:ext cx="10844784" cy="420624"/>
          </a:xfrm>
          <a:prstGeom prst="roundRect">
            <a:avLst>
              <a:gd name="adj" fmla="val 13043"/>
            </a:avLst>
          </a:prstGeom>
          <a:solidFill>
            <a:srgbClr val="F6E6E8"/>
          </a:solidFill>
          <a:ln w="12700">
            <a:solidFill>
              <a:srgbClr val="F2CB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" y="6044184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033"/>
                </a:solidFill>
              </a:rPr>
              <a:t>PREDICT  →  What happens if the cryptographic algorithm is strong but the key is stolen?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6A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12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20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0" fill="hold" nodeType="clickEffect"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30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37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033"/>
                </a:solidFill>
              </a:rPr>
              <a:t>Security controls work before, during, and after incidents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11430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46A73"/>
                </a:solidFill>
              </a:rPr>
              <a:t>A complete design uses layers rather than one “magic” product.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13232" y="1481328"/>
            <a:ext cx="3246120" cy="3520440"/>
          </a:xfrm>
          <a:prstGeom prst="roundRect">
            <a:avLst>
              <a:gd name="adj" fmla="val 2254"/>
            </a:avLst>
          </a:prstGeom>
          <a:solidFill>
            <a:srgbClr val="9C8199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41832" y="179222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Preventive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024128" y="2487168"/>
            <a:ext cx="2624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CBC7"/>
                </a:solidFill>
              </a:rPr>
              <a:t>Reduce the chance of success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0704" y="342900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5F5"/>
                </a:solidFill>
              </a:rPr>
              <a:t>MFA, secure configuration, access control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98848" y="1481328"/>
            <a:ext cx="3246120" cy="3520440"/>
          </a:xfrm>
          <a:prstGeom prst="roundRect">
            <a:avLst>
              <a:gd name="adj" fmla="val 2254"/>
            </a:avLst>
          </a:prstGeom>
          <a:solidFill>
            <a:srgbClr val="D58F89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27448" y="179222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Detective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4809744" y="2487168"/>
            <a:ext cx="2624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CBC7"/>
                </a:solidFill>
              </a:rPr>
              <a:t>Discover suspicious activity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342900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5F5"/>
                </a:solidFill>
              </a:rPr>
              <a:t>Logging, monitoring, alerts, audits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84464" y="1481328"/>
            <a:ext cx="3246120" cy="3520440"/>
          </a:xfrm>
          <a:prstGeom prst="roundRect">
            <a:avLst>
              <a:gd name="adj" fmla="val 2254"/>
            </a:avLst>
          </a:prstGeom>
          <a:solidFill>
            <a:srgbClr val="2B2033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13064" y="179222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Corrective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8595360" y="2487168"/>
            <a:ext cx="2624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CBC7"/>
                </a:solidFill>
              </a:rPr>
              <a:t>Limit damage and restore service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31936" y="342900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5F5"/>
                </a:solidFill>
              </a:rPr>
              <a:t>Isolation, patching, backups, recovery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8368" y="5925312"/>
            <a:ext cx="10844784" cy="420624"/>
          </a:xfrm>
          <a:prstGeom prst="roundRect">
            <a:avLst>
              <a:gd name="adj" fmla="val 13043"/>
            </a:avLst>
          </a:prstGeom>
          <a:solidFill>
            <a:srgbClr val="F6E6E8"/>
          </a:solidFill>
          <a:ln w="12700">
            <a:solidFill>
              <a:srgbClr val="F2CB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6044184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033"/>
                </a:solidFill>
              </a:rPr>
              <a:t>PREDICT  →  Classify a backup as preventive, detective, or corrective. Could it support more than one role?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6A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7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0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0" fill="hold" nodeType="clickEffect"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14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17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033"/>
                </a:solidFill>
              </a:rPr>
              <a:t>Risk connects security to decisions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11430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46A73"/>
                </a:solidFill>
              </a:rPr>
              <a:t>A useful classroom model: risk depends on likelihood and impact.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4709160" cy="4251960"/>
          </a:xfrm>
          <a:prstGeom prst="roundRect">
            <a:avLst>
              <a:gd name="adj" fmla="val 1720"/>
            </a:avLst>
          </a:prstGeom>
          <a:solidFill>
            <a:srgbClr val="F4E9EF"/>
          </a:solidFill>
          <a:ln w="12700">
            <a:solidFill>
              <a:srgbClr val="CBB0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65960" y="1874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B2033"/>
                </a:solidFill>
              </a:rPr>
              <a:t>RISK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25880" y="26974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D58F89"/>
                </a:solidFill>
              </a:rPr>
              <a:t>Likelihood  ×  Impact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325880" y="3703320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46A73"/>
                </a:solidFill>
              </a:rPr>
              <a:t>Then choose a response: avoid, reduce, transfer/share, or accept.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97880" y="141732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897880" y="1417320"/>
            <a:ext cx="82296" cy="1417320"/>
          </a:xfrm>
          <a:prstGeom prst="rect">
            <a:avLst/>
          </a:prstGeom>
          <a:solidFill>
            <a:srgbClr val="A54854"/>
          </a:solidFill>
          <a:ln w="12700">
            <a:solidFill>
              <a:srgbClr val="A548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17336" y="160020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033"/>
                </a:solidFill>
              </a:rPr>
              <a:t>High impact / high likelihood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117336" y="2075688"/>
            <a:ext cx="201168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746A73"/>
                </a:solidFill>
              </a:rPr>
              <a:t>Act first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641080" y="141732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41080" y="1417320"/>
            <a:ext cx="82296" cy="1417320"/>
          </a:xfrm>
          <a:prstGeom prst="rect">
            <a:avLst/>
          </a:prstGeom>
          <a:solidFill>
            <a:srgbClr val="9C8199"/>
          </a:solidFill>
          <a:ln w="12700">
            <a:solidFill>
              <a:srgbClr val="9C81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0536" y="160020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033"/>
                </a:solidFill>
              </a:rPr>
              <a:t>High impact / low likelihood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860536" y="2075688"/>
            <a:ext cx="201168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746A73"/>
                </a:solidFill>
              </a:rPr>
              <a:t>Plan resilience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897880" y="324612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97880" y="3246120"/>
            <a:ext cx="82296" cy="1417320"/>
          </a:xfrm>
          <a:prstGeom prst="rect">
            <a:avLst/>
          </a:prstGeom>
          <a:solidFill>
            <a:srgbClr val="9C8199"/>
          </a:solidFill>
          <a:ln w="12700">
            <a:solidFill>
              <a:srgbClr val="9C81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7336" y="342900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033"/>
                </a:solidFill>
              </a:rPr>
              <a:t>Low impact / high likelihood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17336" y="3904488"/>
            <a:ext cx="201168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746A73"/>
                </a:solidFill>
              </a:rPr>
              <a:t>Automate control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641080" y="324612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41080" y="3246120"/>
            <a:ext cx="82296" cy="1417320"/>
          </a:xfrm>
          <a:prstGeom prst="rect">
            <a:avLst/>
          </a:prstGeom>
          <a:solidFill>
            <a:srgbClr val="3D7660"/>
          </a:solidFill>
          <a:ln w="12700">
            <a:solidFill>
              <a:srgbClr val="3D76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0536" y="342900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033"/>
                </a:solidFill>
              </a:rPr>
              <a:t>Low impact / low likelihood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860536" y="3904488"/>
            <a:ext cx="201168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746A73"/>
                </a:solidFill>
              </a:rPr>
              <a:t>Monitor / accept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58368" y="5925312"/>
            <a:ext cx="10844784" cy="420624"/>
          </a:xfrm>
          <a:prstGeom prst="roundRect">
            <a:avLst>
              <a:gd name="adj" fmla="val 13043"/>
            </a:avLst>
          </a:prstGeom>
          <a:solidFill>
            <a:srgbClr val="F6E6E8"/>
          </a:solidFill>
          <a:ln w="12700">
            <a:solidFill>
              <a:srgbClr val="F2CB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6044184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033"/>
                </a:solidFill>
              </a:rPr>
              <a:t>PREDICT  →  Which is riskier: a frequent minor inconvenience or a rare life-safety failure?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6A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8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4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0" fill="hold" nodeType="clickEffect"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20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25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033"/>
                </a:solidFill>
              </a:rPr>
              <a:t>Mini case: compromised student portal account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11430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46A73"/>
                </a:solidFill>
              </a:rPr>
              <a:t>Work in pairs for 4 minutes.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040880" y="1325880"/>
            <a:ext cx="4251960" cy="4434840"/>
          </a:xfrm>
          <a:prstGeom prst="roundRect">
            <a:avLst>
              <a:gd name="adj" fmla="val 1720"/>
            </a:avLst>
          </a:prstGeom>
          <a:solidFill>
            <a:srgbClr val="F8EFF2"/>
          </a:solidFill>
          <a:ln w="12700">
            <a:solidFill>
              <a:srgbClr val="CBB0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05472" y="2103120"/>
            <a:ext cx="889254" cy="1051560"/>
          </a:xfrm>
          <a:prstGeom prst="roundRect">
            <a:avLst>
              <a:gd name="adj" fmla="val 5141"/>
            </a:avLst>
          </a:prstGeom>
          <a:solidFill>
            <a:srgbClr val="F2E8EF"/>
          </a:solidFill>
          <a:ln w="16510">
            <a:solidFill>
              <a:srgbClr val="9C8199"/>
            </a:solidFill>
            <a:prstDash val="solid"/>
          </a:ln>
          <a:effectLst>
            <a:outerShdw sx="100000" sy="100000" kx="0" ky="0" algn="bl" rotWithShape="0" blurRad="12700" dist="12700" dir="2700000">
              <a:srgbClr val="2B2033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278624" y="2212848"/>
            <a:ext cx="74295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033"/>
                </a:solidFill>
              </a:rPr>
              <a:t>Weakness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B2033"/>
                </a:solidFill>
              </a:rPr>
              <a:t>Reused password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103870" y="2432304"/>
            <a:ext cx="201168" cy="274320"/>
          </a:xfrm>
          <a:prstGeom prst="chevron">
            <a:avLst/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86166" y="2103120"/>
            <a:ext cx="889254" cy="1051560"/>
          </a:xfrm>
          <a:prstGeom prst="roundRect">
            <a:avLst>
              <a:gd name="adj" fmla="val 5141"/>
            </a:avLst>
          </a:prstGeom>
          <a:solidFill>
            <a:srgbClr val="FCE9E6"/>
          </a:solidFill>
          <a:ln w="16510">
            <a:solidFill>
              <a:srgbClr val="D58F89"/>
            </a:solidFill>
            <a:prstDash val="solid"/>
          </a:ln>
          <a:effectLst>
            <a:outerShdw sx="100000" sy="100000" kx="0" ky="0" algn="bl" rotWithShape="0" blurRad="12700" dist="12700" dir="2700000">
              <a:srgbClr val="2B2033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59318" y="2212848"/>
            <a:ext cx="74295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033"/>
                </a:solidFill>
              </a:rPr>
              <a:t>Attack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B2033"/>
                </a:solidFill>
              </a:rPr>
              <a:t>Stolen login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084564" y="2432304"/>
            <a:ext cx="201168" cy="274320"/>
          </a:xfrm>
          <a:prstGeom prst="chevron">
            <a:avLst/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66860" y="2103120"/>
            <a:ext cx="889254" cy="1051560"/>
          </a:xfrm>
          <a:prstGeom prst="roundRect">
            <a:avLst>
              <a:gd name="adj" fmla="val 5141"/>
            </a:avLst>
          </a:prstGeom>
          <a:solidFill>
            <a:srgbClr val="F2E8EF"/>
          </a:solidFill>
          <a:ln w="16510">
            <a:solidFill>
              <a:srgbClr val="9C8199"/>
            </a:solidFill>
            <a:prstDash val="solid"/>
          </a:ln>
          <a:effectLst>
            <a:outerShdw sx="100000" sy="100000" kx="0" ky="0" algn="bl" rotWithShape="0" blurRad="12700" dist="12700" dir="2700000">
              <a:srgbClr val="2B2033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240012" y="2212848"/>
            <a:ext cx="74295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033"/>
                </a:solidFill>
              </a:rPr>
              <a:t>Actions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B2033"/>
                </a:solidFill>
              </a:rPr>
              <a:t>Download data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B2033"/>
                </a:solidFill>
              </a:rPr>
              <a:t>Change phone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065258" y="2432304"/>
            <a:ext cx="201168" cy="274320"/>
          </a:xfrm>
          <a:prstGeom prst="chevron">
            <a:avLst/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47554" y="2103120"/>
            <a:ext cx="889254" cy="1051560"/>
          </a:xfrm>
          <a:prstGeom prst="roundRect">
            <a:avLst>
              <a:gd name="adj" fmla="val 5141"/>
            </a:avLst>
          </a:prstGeom>
          <a:solidFill>
            <a:srgbClr val="FCE9E6"/>
          </a:solidFill>
          <a:ln w="16510">
            <a:solidFill>
              <a:srgbClr val="D58F89"/>
            </a:solidFill>
            <a:prstDash val="solid"/>
          </a:ln>
          <a:effectLst>
            <a:outerShdw sx="100000" sy="100000" kx="0" ky="0" algn="bl" rotWithShape="0" blurRad="12700" dist="12700" dir="2700000">
              <a:srgbClr val="2B2033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220706" y="2212848"/>
            <a:ext cx="74295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033"/>
                </a:solidFill>
              </a:rPr>
              <a:t>Impact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B2033"/>
                </a:solidFill>
              </a:rPr>
              <a:t>Privacy + integrity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607808" y="3749040"/>
            <a:ext cx="3118104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6510">
            <a:solidFill>
              <a:srgbClr val="3D7660"/>
            </a:solidFill>
            <a:prstDash val="solid"/>
          </a:ln>
          <a:effectLst>
            <a:outerShdw sx="100000" sy="100000" kx="0" ky="0" algn="bl" rotWithShape="0" blurRad="12700" dist="12700" dir="2700000">
              <a:srgbClr val="2B2033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680960" y="3858768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B2033"/>
                </a:solidFill>
              </a:rPr>
              <a:t>Controls: MFA • alerts • session revocation • audit logs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731520" y="1389888"/>
            <a:ext cx="5715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033"/>
                </a:solidFill>
              </a:rPr>
              <a:t>A student reuses a password. An attacker logs in, downloads personal information, changes a phone number, and requests a password reset for another service.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32688" y="285292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58F89"/>
                </a:solidFill>
              </a:rPr>
              <a:t>1. Identify the asset, threat, vulnerability, attack, and impact.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32688" y="347472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746A73"/>
                </a:solidFill>
              </a:rPr>
              <a:t>2. Which CIA goals were affected?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932688" y="409651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746A73"/>
                </a:solidFill>
              </a:rPr>
              <a:t>3. Which preventive, detective, and corrective controls would help?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32688" y="471830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746A73"/>
                </a:solidFill>
              </a:rPr>
              <a:t>4. What evidence supports accountability?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6A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9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5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0" fill="hold" nodeType="clickEffect"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18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22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033"/>
                </a:solidFill>
              </a:rPr>
              <a:t>Case debrief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11430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46A73"/>
                </a:solidFill>
              </a:rPr>
              <a:t>A strong answer connects concepts rather than listing products.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13232" y="1417320"/>
            <a:ext cx="5120640" cy="1078992"/>
          </a:xfrm>
          <a:prstGeom prst="roundRect">
            <a:avLst>
              <a:gd name="adj" fmla="val 6780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417320"/>
            <a:ext cx="82296" cy="1078992"/>
          </a:xfrm>
          <a:prstGeom prst="rect">
            <a:avLst/>
          </a:prstGeom>
          <a:solidFill>
            <a:srgbClr val="9C8199"/>
          </a:solidFill>
          <a:ln w="12700">
            <a:solidFill>
              <a:srgbClr val="9C81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60020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033"/>
                </a:solidFill>
              </a:rPr>
              <a:t>Asset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2688" y="2075688"/>
            <a:ext cx="47091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746A73"/>
                </a:solidFill>
              </a:rPr>
              <a:t>Identity and personal records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27648" y="1417320"/>
            <a:ext cx="5120640" cy="1078992"/>
          </a:xfrm>
          <a:prstGeom prst="roundRect">
            <a:avLst>
              <a:gd name="adj" fmla="val 6780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27648" y="1417320"/>
            <a:ext cx="82296" cy="1078992"/>
          </a:xfrm>
          <a:prstGeom prst="rect">
            <a:avLst/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47104" y="160020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033"/>
                </a:solidFill>
              </a:rPr>
              <a:t>Threat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47104" y="2075688"/>
            <a:ext cx="47091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746A73"/>
                </a:solidFill>
              </a:rPr>
              <a:t>Account attacker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13232" y="2807208"/>
            <a:ext cx="5120640" cy="1078992"/>
          </a:xfrm>
          <a:prstGeom prst="roundRect">
            <a:avLst>
              <a:gd name="adj" fmla="val 6780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" y="2807208"/>
            <a:ext cx="82296" cy="1078992"/>
          </a:xfrm>
          <a:prstGeom prst="rect">
            <a:avLst/>
          </a:prstGeom>
          <a:solidFill>
            <a:srgbClr val="9C8199"/>
          </a:solidFill>
          <a:ln w="12700">
            <a:solidFill>
              <a:srgbClr val="9C81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299008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033"/>
                </a:solidFill>
              </a:rPr>
              <a:t>Vulnerability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32688" y="3465576"/>
            <a:ext cx="47091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746A73"/>
                </a:solidFill>
              </a:rPr>
              <a:t>Password reuse and weak account protection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27648" y="2807208"/>
            <a:ext cx="5120640" cy="1078992"/>
          </a:xfrm>
          <a:prstGeom prst="roundRect">
            <a:avLst>
              <a:gd name="adj" fmla="val 6780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27648" y="2807208"/>
            <a:ext cx="82296" cy="1078992"/>
          </a:xfrm>
          <a:prstGeom prst="rect">
            <a:avLst/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47104" y="299008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033"/>
                </a:solidFill>
              </a:rPr>
              <a:t>Attack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47104" y="3465576"/>
            <a:ext cx="47091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746A73"/>
                </a:solidFill>
              </a:rPr>
              <a:t>Masquerade using stolen credentials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13232" y="4197096"/>
            <a:ext cx="5120640" cy="1078992"/>
          </a:xfrm>
          <a:prstGeom prst="roundRect">
            <a:avLst>
              <a:gd name="adj" fmla="val 6780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" y="4197096"/>
            <a:ext cx="82296" cy="1078992"/>
          </a:xfrm>
          <a:prstGeom prst="rect">
            <a:avLst/>
          </a:prstGeom>
          <a:solidFill>
            <a:srgbClr val="9C8199"/>
          </a:solidFill>
          <a:ln w="12700">
            <a:solidFill>
              <a:srgbClr val="9C81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437997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033"/>
                </a:solidFill>
              </a:rPr>
              <a:t>CIA impact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32688" y="4855464"/>
            <a:ext cx="47091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746A73"/>
                </a:solidFill>
              </a:rPr>
              <a:t>Confidentiality + integrity; possible availability impact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327648" y="4197096"/>
            <a:ext cx="5120640" cy="1078992"/>
          </a:xfrm>
          <a:prstGeom prst="roundRect">
            <a:avLst>
              <a:gd name="adj" fmla="val 6780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27648" y="4197096"/>
            <a:ext cx="82296" cy="1078992"/>
          </a:xfrm>
          <a:prstGeom prst="rect">
            <a:avLst/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47104" y="437997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033"/>
                </a:solidFill>
              </a:rPr>
              <a:t>Controls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547104" y="4855464"/>
            <a:ext cx="47091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746A73"/>
                </a:solidFill>
              </a:rPr>
              <a:t>MFA, alerts, session revocation, recovery, audit logs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58368" y="5925312"/>
            <a:ext cx="10844784" cy="420624"/>
          </a:xfrm>
          <a:prstGeom prst="roundRect">
            <a:avLst>
              <a:gd name="adj" fmla="val 13043"/>
            </a:avLst>
          </a:prstGeom>
          <a:solidFill>
            <a:srgbClr val="F6E6E8"/>
          </a:solidFill>
          <a:ln w="12700">
            <a:solidFill>
              <a:srgbClr val="F2CB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6044184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033"/>
                </a:solidFill>
              </a:rPr>
              <a:t>PREDICT  →  Which single control would you prioritize first, and what residual risk remains?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6A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11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8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0" fill="hold" nodeType="clickEffect"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23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29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033"/>
                </a:solidFill>
              </a:rPr>
              <a:t>Knowledge check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11430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46A73"/>
                </a:solidFill>
              </a:rPr>
              <a:t>Answer individually, then defend the reasoning.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9808" y="1325880"/>
            <a:ext cx="8595360" cy="804672"/>
          </a:xfrm>
          <a:prstGeom prst="roundRect">
            <a:avLst>
              <a:gd name="adj" fmla="val 5682"/>
            </a:avLst>
          </a:prstGeom>
          <a:solidFill>
            <a:srgbClr val="F2E8EF"/>
          </a:solidFill>
          <a:ln w="12700">
            <a:solidFill>
              <a:srgbClr val="E4D1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58F89"/>
                </a:solidFill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417320" y="1527048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033"/>
                </a:solidFill>
              </a:rPr>
              <a:t>A copied valid request is sent again later.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646920" y="1536192"/>
            <a:ext cx="1828800" cy="356616"/>
          </a:xfrm>
          <a:prstGeom prst="roundRect">
            <a:avLst>
              <a:gd name="adj" fmla="val 20513"/>
            </a:avLst>
          </a:prstGeom>
          <a:solidFill>
            <a:srgbClr val="9C8199"/>
          </a:solidFill>
          <a:ln w="12700">
            <a:solidFill>
              <a:srgbClr val="9C8199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720072" y="1600200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Replay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9808" y="2404872"/>
            <a:ext cx="8595360" cy="804672"/>
          </a:xfrm>
          <a:prstGeom prst="roundRect">
            <a:avLst>
              <a:gd name="adj" fmla="val 5682"/>
            </a:avLst>
          </a:prstGeom>
          <a:solidFill>
            <a:srgbClr val="FCEAE7"/>
          </a:solidFill>
          <a:ln w="12700">
            <a:solidFill>
              <a:srgbClr val="E4D1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5877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58F89"/>
                </a:solidFill>
              </a:rPr>
              <a:t>2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417320" y="2606040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033"/>
                </a:solidFill>
              </a:rPr>
              <a:t>A security goal says only authorized people may read data.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646920" y="2615184"/>
            <a:ext cx="1828800" cy="356616"/>
          </a:xfrm>
          <a:prstGeom prst="roundRect">
            <a:avLst>
              <a:gd name="adj" fmla="val 20513"/>
            </a:avLst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720072" y="2679192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Confidentiality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49808" y="3483864"/>
            <a:ext cx="8595360" cy="804672"/>
          </a:xfrm>
          <a:prstGeom prst="roundRect">
            <a:avLst>
              <a:gd name="adj" fmla="val 5682"/>
            </a:avLst>
          </a:prstGeom>
          <a:solidFill>
            <a:srgbClr val="F2E8EF"/>
          </a:solidFill>
          <a:ln w="12700">
            <a:solidFill>
              <a:srgbClr val="E4D1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6667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58F89"/>
                </a:solidFill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417320" y="3685032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033"/>
                </a:solidFill>
              </a:rPr>
              <a:t>A log links an action to a specific account and time.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646920" y="3694176"/>
            <a:ext cx="1828800" cy="356616"/>
          </a:xfrm>
          <a:prstGeom prst="roundRect">
            <a:avLst>
              <a:gd name="adj" fmla="val 20513"/>
            </a:avLst>
          </a:prstGeom>
          <a:solidFill>
            <a:srgbClr val="9C8199"/>
          </a:solidFill>
          <a:ln w="12700">
            <a:solidFill>
              <a:srgbClr val="9C8199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720072" y="3758184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Accountability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9808" y="4562856"/>
            <a:ext cx="8595360" cy="804672"/>
          </a:xfrm>
          <a:prstGeom prst="roundRect">
            <a:avLst>
              <a:gd name="adj" fmla="val 5682"/>
            </a:avLst>
          </a:prstGeom>
          <a:solidFill>
            <a:srgbClr val="FCEAE7"/>
          </a:solidFill>
          <a:ln w="12700">
            <a:solidFill>
              <a:srgbClr val="E4D1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7457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58F89"/>
                </a:solidFill>
              </a:rPr>
              <a:t>4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417320" y="4764024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033"/>
                </a:solidFill>
              </a:rPr>
              <a:t>A control restores data after ransomware.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646920" y="4773168"/>
            <a:ext cx="1828800" cy="356616"/>
          </a:xfrm>
          <a:prstGeom prst="roundRect">
            <a:avLst>
              <a:gd name="adj" fmla="val 20513"/>
            </a:avLst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720072" y="4837176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Corrective control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" y="571500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46A73"/>
                </a:solidFill>
              </a:rPr>
              <a:t>Instructor tip: cover the answer pills before discussion, or duplicate this slide and remove them for prediction-first delivery.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6A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9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4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0" fill="hold" nodeType="clickEffect"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19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24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033"/>
                </a:solidFill>
              </a:rPr>
              <a:t>Chapter 1 concept map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11430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46A73"/>
                </a:solidFill>
              </a:rPr>
              <a:t>Start from assets, analyze risk, and select layered protection.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920240"/>
            <a:ext cx="1993392" cy="1965960"/>
          </a:xfrm>
          <a:prstGeom prst="roundRect">
            <a:avLst>
              <a:gd name="adj" fmla="val 3721"/>
            </a:avLst>
          </a:prstGeom>
          <a:solidFill>
            <a:srgbClr val="2B2033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24028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Assets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12648" y="289864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3F4"/>
                </a:solidFill>
              </a:rPr>
              <a:t>What matters?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50592" y="2615184"/>
            <a:ext cx="256032" cy="420624"/>
          </a:xfrm>
          <a:prstGeom prst="chevron">
            <a:avLst/>
          </a:prstGeom>
          <a:solidFill>
            <a:srgbClr val="CBB0BD"/>
          </a:solidFill>
          <a:ln w="12700">
            <a:solidFill>
              <a:srgbClr val="CBB0B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1920240"/>
            <a:ext cx="1993392" cy="1965960"/>
          </a:xfrm>
          <a:prstGeom prst="roundRect">
            <a:avLst>
              <a:gd name="adj" fmla="val 3721"/>
            </a:avLst>
          </a:prstGeom>
          <a:solidFill>
            <a:srgbClr val="9C8199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80360" y="224028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Goals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944368" y="289864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3F4"/>
                </a:solidFill>
              </a:rPr>
              <a:t>CIA + AAA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82312" y="2615184"/>
            <a:ext cx="256032" cy="420624"/>
          </a:xfrm>
          <a:prstGeom prst="chevron">
            <a:avLst/>
          </a:prstGeom>
          <a:solidFill>
            <a:srgbClr val="CBB0BD"/>
          </a:solidFill>
          <a:ln w="12700">
            <a:solidFill>
              <a:srgbClr val="CBB0B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74920" y="1920240"/>
            <a:ext cx="1993392" cy="1965960"/>
          </a:xfrm>
          <a:prstGeom prst="roundRect">
            <a:avLst>
              <a:gd name="adj" fmla="val 3721"/>
            </a:avLst>
          </a:prstGeom>
          <a:solidFill>
            <a:srgbClr val="D58F89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12080" y="224028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Adversity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76088" y="289864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3F4"/>
                </a:solidFill>
              </a:rPr>
              <a:t>Threats, vulnerabilities, attacks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14032" y="2615184"/>
            <a:ext cx="256032" cy="420624"/>
          </a:xfrm>
          <a:prstGeom prst="chevron">
            <a:avLst/>
          </a:prstGeom>
          <a:solidFill>
            <a:srgbClr val="CBB0BD"/>
          </a:solidFill>
          <a:ln w="12700">
            <a:solidFill>
              <a:srgbClr val="CBB0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6640" y="1920240"/>
            <a:ext cx="1993392" cy="1965960"/>
          </a:xfrm>
          <a:prstGeom prst="roundRect">
            <a:avLst>
              <a:gd name="adj" fmla="val 3721"/>
            </a:avLst>
          </a:prstGeom>
          <a:solidFill>
            <a:srgbClr val="9C8199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43800" y="224028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Protection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07808" y="289864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3F4"/>
                </a:solidFill>
              </a:rPr>
              <a:t>Services, mechanisms, controls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445752" y="2615184"/>
            <a:ext cx="256032" cy="420624"/>
          </a:xfrm>
          <a:prstGeom prst="chevron">
            <a:avLst/>
          </a:prstGeom>
          <a:solidFill>
            <a:srgbClr val="CBB0BD"/>
          </a:solidFill>
          <a:ln w="12700">
            <a:solidFill>
              <a:srgbClr val="CBB0B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38360" y="1920240"/>
            <a:ext cx="1993392" cy="1965960"/>
          </a:xfrm>
          <a:prstGeom prst="roundRect">
            <a:avLst>
              <a:gd name="adj" fmla="val 3721"/>
            </a:avLst>
          </a:prstGeom>
          <a:solidFill>
            <a:srgbClr val="2B2033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12700" dir="2700000">
              <a:srgbClr val="2B2033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875520" y="224028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Governance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939528" y="289864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3F4"/>
                </a:solidFill>
              </a:rPr>
              <a:t>Policy, risk, monitoring, recovery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8368" y="5925312"/>
            <a:ext cx="10844784" cy="420624"/>
          </a:xfrm>
          <a:prstGeom prst="roundRect">
            <a:avLst>
              <a:gd name="adj" fmla="val 13043"/>
            </a:avLst>
          </a:prstGeom>
          <a:solidFill>
            <a:srgbClr val="F6E6E8"/>
          </a:solidFill>
          <a:ln w="12700">
            <a:solidFill>
              <a:srgbClr val="F2CB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6044184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033"/>
                </a:solidFill>
              </a:rPr>
              <a:t>PREDICT  →  Choose one system and explain the full chain from asset to control.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6A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9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4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0" fill="hold" nodeType="clickEffect"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19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24"/>
                                        </p:tgtEl>
                                      </p:cBhvr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B2033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6903720" y="594360"/>
            <a:ext cx="4709160" cy="5623560"/>
          </a:xfrm>
          <a:prstGeom prst="roundRect">
            <a:avLst>
              <a:gd name="adj" fmla="val 1553"/>
            </a:avLst>
          </a:prstGeom>
          <a:solidFill>
            <a:srgbClr val="3C2D45">
              <a:alpha val="95000"/>
            </a:srgbClr>
          </a:solidFill>
          <a:ln w="15240">
            <a:solidFill>
              <a:srgbClr val="9C81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1051560"/>
            <a:ext cx="1417320" cy="914400"/>
          </a:xfrm>
          <a:prstGeom prst="ellipse">
            <a:avLst/>
          </a:prstGeom>
          <a:solidFill>
            <a:srgbClr val="D58F89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06640" y="135331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Assets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372600" y="1024128"/>
            <a:ext cx="1417320" cy="914400"/>
          </a:xfrm>
          <a:prstGeom prst="ellipse">
            <a:avLst/>
          </a:prstGeom>
          <a:solidFill>
            <a:srgbClr val="9C8199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64040" y="13258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Goals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406640" y="2743200"/>
            <a:ext cx="1417320" cy="914400"/>
          </a:xfrm>
          <a:prstGeom prst="ellipse">
            <a:avLst/>
          </a:prstGeom>
          <a:solidFill>
            <a:srgbClr val="A5485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0" y="304495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Attacks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326880" y="2743200"/>
            <a:ext cx="1417320" cy="914400"/>
          </a:xfrm>
          <a:prstGeom prst="ellipse">
            <a:avLst/>
          </a:prstGeom>
          <a:solidFill>
            <a:srgbClr val="3D766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0" y="304495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Controls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366760" y="4572000"/>
            <a:ext cx="1417320" cy="914400"/>
          </a:xfrm>
          <a:prstGeom prst="ellipse">
            <a:avLst/>
          </a:prstGeom>
          <a:solidFill>
            <a:srgbClr val="F2CBC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8200" y="487375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033"/>
                </a:solidFill>
              </a:rPr>
              <a:t>Risk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38160" y="1554480"/>
            <a:ext cx="1188720" cy="1143000"/>
          </a:xfrm>
          <a:prstGeom prst="line">
            <a:avLst/>
          </a:prstGeom>
          <a:noFill/>
          <a:ln w="25400">
            <a:solidFill>
              <a:srgbClr val="F2CBC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H="1">
            <a:off x="9052560" y="1554480"/>
            <a:ext cx="822960" cy="1143000"/>
          </a:xfrm>
          <a:prstGeom prst="line">
            <a:avLst/>
          </a:prstGeom>
          <a:noFill/>
          <a:ln w="25400">
            <a:solidFill>
              <a:srgbClr val="F2CBC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092440" y="3657600"/>
            <a:ext cx="731520" cy="914400"/>
          </a:xfrm>
          <a:prstGeom prst="line">
            <a:avLst/>
          </a:prstGeom>
          <a:noFill/>
          <a:ln w="25400">
            <a:solidFill>
              <a:srgbClr val="F2CBC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H="1">
            <a:off x="8961120" y="3657600"/>
            <a:ext cx="548640" cy="914400"/>
          </a:xfrm>
          <a:prstGeom prst="line">
            <a:avLst/>
          </a:prstGeom>
          <a:noFill/>
          <a:ln w="25400">
            <a:solidFill>
              <a:srgbClr val="F2CBC7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983480" y="0"/>
            <a:ext cx="7205472" cy="6858000"/>
          </a:xfrm>
          <a:prstGeom prst="rect">
            <a:avLst/>
          </a:prstGeom>
          <a:solidFill>
            <a:srgbClr val="2B2033">
              <a:alpha val="55000"/>
            </a:srgbClr>
          </a:solidFill>
          <a:ln w="12700">
            <a:solidFill>
              <a:srgbClr val="2B20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7498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80" kern="0" dirty="0">
                <a:solidFill>
                  <a:srgbClr val="F2CBC7"/>
                </a:solidFill>
              </a:rPr>
              <a:t>EXIT TICKET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132588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Before you leave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777240" y="2240280"/>
            <a:ext cx="43891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4F5"/>
                </a:solidFill>
              </a:rPr>
              <a:t>1. Explain the difference between a security service and a mechanism.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4F5"/>
                </a:solidFill>
              </a:rPr>
              <a:t>2. Give one passive attack and one active attack.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4F5"/>
                </a:solidFill>
              </a:rPr>
              <a:t>3. Choose one control for a university portal and explain which risk it reduces.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77240" y="5989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58F89"/>
                </a:solidFill>
              </a:rPr>
              <a:t>Next: Fundamentals of Cryptography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Security and Cryptography Course</Company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Lecture 1 Presentation</dc:title>
  <dc:subject>Chapter 1 - Introduction to Information Security</dc:subject>
  <dc:creator>Gehad Taher</dc:creator>
  <lastModifiedBy>Gehad Taher</lastModifiedBy>
  <revision>1</revision>
  <dcterms:created xsi:type="dcterms:W3CDTF">2026-09-25T15:56:33.8392184Z</dcterms:created>
  <dcterms:modified xsi:type="dcterms:W3CDTF">2026-09-25T15:56:33.8392184Z</dcterms:modified>
</coreProperties>
</file>