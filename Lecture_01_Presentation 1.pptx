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crypto_ebook.pdf, Chapter 1: Introduction to Information Security.
- Visuals generated with Microsoft Copilot where used.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725F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 CRYPTOGRAPHY  •  LECTURE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95160" y="228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46A73"/>
                </a:solidFill>
              </a:rPr>
              <a:t>Chapter 1 • Introduction to Information Security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2700">
            <a:solidFill>
              <a:srgbClr val="E4D1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6538AA871964_01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033">
              <a:alpha val="72000"/>
            </a:srgbClr>
          </a:solidFill>
          <a:ln w="12700">
            <a:solidFill>
              <a:srgbClr val="2B20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1792" y="658368"/>
            <a:ext cx="6537960" cy="5394960"/>
          </a:xfrm>
          <a:prstGeom prst="roundRect">
            <a:avLst>
              <a:gd name="adj" fmla="val 1356"/>
            </a:avLst>
          </a:prstGeom>
          <a:solidFill>
            <a:srgbClr val="2B2033">
              <a:alpha val="87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1024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CBC7"/>
                </a:solidFill>
              </a:rPr>
              <a:t>LECTURE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32688" y="1481328"/>
            <a:ext cx="5715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Introduction to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Information Security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60120" y="338328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4F5"/>
                </a:solidFill>
              </a:rPr>
              <a:t>From protecting student records to keeping hospitals, banks, and cloud services dependable.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CBC7"/>
                </a:solidFill>
              </a:rPr>
              <a:t>Aligned with crypto_ebook.pdf • Chapter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Opening challenge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A normal university morning: what could go wrong?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92824" y="1408176"/>
            <a:ext cx="4965192" cy="4325112"/>
          </a:xfrm>
          <a:prstGeom prst="roundRect">
            <a:avLst>
              <a:gd name="adj" fmla="val 1480"/>
            </a:avLst>
          </a:prstGeom>
          <a:solidFill>
            <a:srgbClr val="FFFFFF"/>
          </a:solidFill>
          <a:ln w="12700">
            <a:solidFill>
              <a:srgbClr val="CBB0BD"/>
            </a:solidFill>
            <a:prstDash val="solid"/>
          </a:ln>
          <a:effectLst>
            <a:outerShdw blurRad="25400" dist="12700" dir="2700000" algn="bl" rotWithShape="0">
              <a:srgbClr val="2B2033">
                <a:alpha val="16000"/>
              </a:srgbClr>
            </a:outerShdw>
          </a:effectLst>
        </p:spPr>
      </p:sp>
      <p:pic>
        <p:nvPicPr>
          <p:cNvPr id="5" name="Image 0" descr="/mnt/data/generated_image_6538AA871964_03.png"/>
          <p:cNvPicPr>
            <a:picLocks noChangeAspect="1"/>
          </p:cNvPicPr>
          <p:nvPr/>
        </p:nvPicPr>
        <p:blipFill>
          <a:blip r:embed="rId3"/>
          <a:srcRect l="11649" r="11649"/>
          <a:stretch/>
        </p:blipFill>
        <p:spPr>
          <a:xfrm>
            <a:off x="6629400" y="1444752"/>
            <a:ext cx="489204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60020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" y="1600200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7824" y="178308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Scenario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7824" y="2258568"/>
            <a:ext cx="5029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The campus portal stores grades, IDs, fees, messages, and course files.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" y="288036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880360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06324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Your task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7824" y="3538728"/>
            <a:ext cx="5029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Name three things that must remain protected for students to trust the portal.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4160520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" y="4160520"/>
            <a:ext cx="82296" cy="1078992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" y="434340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Think beyond secrecy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77824" y="4818888"/>
            <a:ext cx="5029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What if the grade is changed? What if the portal is unavailable during registration?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failure harms students most: leaked grades, changed grades, or no portal access?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What you will be able to do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By the end, students can explain, classify, and apply security concepts.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54480"/>
            <a:ext cx="82296" cy="105156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373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2212848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Explain information security and why it matters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1928" y="1554480"/>
            <a:ext cx="82296" cy="105156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1384" y="173736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01384" y="2212848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Apply CIA, authentication, authorization, and accountability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2907792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907792"/>
            <a:ext cx="82296" cy="105156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0906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" y="3566160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Distinguish threats, vulnerabilities, attacks, services, and mechanisms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81928" y="2907792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2907792"/>
            <a:ext cx="82296" cy="105156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309067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01384" y="3566160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Classify passive and active attacks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4261104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4261104"/>
            <a:ext cx="82296" cy="105156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4439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7824" y="4919472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Build a basic security model and select controls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81928" y="4261104"/>
            <a:ext cx="516636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81928" y="4261104"/>
            <a:ext cx="82296" cy="105156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444398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01384" y="4919472"/>
            <a:ext cx="47548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Analyze risk in a real university scenario</a:t>
            </a:r>
            <a:endParaRPr lang="en-US" sz="13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Information security protects more than data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It protects information, systems, operations, and trust.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380744"/>
            <a:ext cx="5056632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CBB0BD"/>
            </a:solidFill>
            <a:prstDash val="solid"/>
          </a:ln>
          <a:effectLst>
            <a:outerShdw blurRad="25400" dist="12700" dir="2700000" algn="bl" rotWithShape="0">
              <a:srgbClr val="2B2033">
                <a:alpha val="16000"/>
              </a:srgbClr>
            </a:outerShdw>
          </a:effectLst>
        </p:spPr>
      </p:sp>
      <p:pic>
        <p:nvPicPr>
          <p:cNvPr id="5" name="Image 0" descr="/mnt/data/generated_image_6538AA871964_04.png"/>
          <p:cNvPicPr>
            <a:picLocks noChangeAspect="1"/>
          </p:cNvPicPr>
          <p:nvPr/>
        </p:nvPicPr>
        <p:blipFill>
          <a:blip r:embed="rId3"/>
          <a:srcRect l="11511" r="11511"/>
          <a:stretch/>
        </p:blipFill>
        <p:spPr>
          <a:xfrm>
            <a:off x="658368" y="1417320"/>
            <a:ext cx="4983480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033"/>
                </a:solidFill>
              </a:rPr>
              <a:t>Information security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989320" y="2148840"/>
            <a:ext cx="5321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46A73"/>
                </a:solidFill>
              </a:rPr>
              <a:t>The protection of information and information systems from unauthorized access, use, disclosure, disruption, modification, or destruction.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89320" y="365760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3657600"/>
            <a:ext cx="82296" cy="1298448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08776" y="3840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Information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208776" y="4315968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Grades, messages, identity records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732520" y="3657600"/>
            <a:ext cx="2514600" cy="1298448"/>
          </a:xfrm>
          <a:prstGeom prst="roundRect">
            <a:avLst>
              <a:gd name="adj" fmla="val 5634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732520" y="3657600"/>
            <a:ext cx="82296" cy="1298448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51976" y="3840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Systems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951976" y="4315968"/>
            <a:ext cx="2103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Portal, network, database, devices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Is a printed exam paper an information-security asset? Why?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Why information security matters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Security failures affect privacy, money, safety, learning, reputation, and continuity.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3EAF0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73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033"/>
                </a:solidFill>
              </a:rPr>
              <a:t>University portal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71800" y="16733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46A73"/>
                </a:solidFill>
              </a:rPr>
              <a:t>Grades changed or registration blocked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58200" y="1682496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31352" y="1746504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Integrity + Availability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542032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3F1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75234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033"/>
                </a:solidFill>
              </a:rPr>
              <a:t>Hospital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971800" y="275234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46A73"/>
                </a:solidFill>
              </a:rPr>
              <a:t>Patient record unavailable during treatment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58200" y="2761488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31352" y="2825496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621024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3EAF0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8313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033"/>
                </a:solidFill>
              </a:rPr>
              <a:t>Banking app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71800" y="3831336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46A73"/>
                </a:solidFill>
              </a:rPr>
              <a:t>Account details exposed or transaction altered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58200" y="3840480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31352" y="3904488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Confidentiality + Integrity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700016"/>
            <a:ext cx="10835640" cy="841248"/>
          </a:xfrm>
          <a:prstGeom prst="roundRect">
            <a:avLst>
              <a:gd name="adj" fmla="val 6522"/>
            </a:avLst>
          </a:prstGeom>
          <a:solidFill>
            <a:srgbClr val="FFF3F1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9103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033"/>
                </a:solidFill>
              </a:rPr>
              <a:t>Cloud storage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971800" y="491032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46A73"/>
                </a:solidFill>
              </a:rPr>
              <a:t>Shared link exposes private documents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58200" y="4919472"/>
            <a:ext cx="269748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31352" y="4983480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For each example, identify the asset, possible harm, and affected security goal.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The CIA triad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Three questions guide the first security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64208" y="1481328"/>
            <a:ext cx="1737360" cy="1737360"/>
          </a:xfrm>
          <a:prstGeom prst="ellipse">
            <a:avLst/>
          </a:prstGeom>
          <a:solidFill>
            <a:srgbClr val="2B2033"/>
          </a:solidFill>
          <a:ln w="254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48840" y="18928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493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033"/>
                </a:solidFill>
              </a:rPr>
              <a:t>Confidentiality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46A73"/>
                </a:solidFill>
              </a:rPr>
              <a:t>Who is allowed to see it?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68112" y="1481328"/>
            <a:ext cx="1737360" cy="1737360"/>
          </a:xfrm>
          <a:prstGeom prst="ellipse">
            <a:avLst/>
          </a:prstGeom>
          <a:solidFill>
            <a:srgbClr val="9C8199"/>
          </a:solidFill>
          <a:ln w="254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52744" y="18928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I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35424" y="3493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033"/>
                </a:solidFill>
              </a:rPr>
              <a:t>Integrity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18304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46A73"/>
                </a:solidFill>
              </a:rPr>
              <a:t>Who is allowed to change it?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72016" y="1481328"/>
            <a:ext cx="1737360" cy="1737360"/>
          </a:xfrm>
          <a:prstGeom prst="ellipse">
            <a:avLst/>
          </a:prstGeom>
          <a:solidFill>
            <a:srgbClr val="D58F89"/>
          </a:solidFill>
          <a:ln w="254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56648" y="1892808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39328" y="3493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2033"/>
                </a:solidFill>
              </a:rPr>
              <a:t>Availability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22208" y="3977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46A73"/>
                </a:solidFill>
              </a:rPr>
              <a:t>Can authorized users access it when needed?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A student transcript is emailed to the wrong person. Which CIA goal failed?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CIA triad in one real system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Apply the three goals to the university portal.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3504" y="1380744"/>
            <a:ext cx="4233672" cy="4553712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12700">
            <a:solidFill>
              <a:srgbClr val="CBB0BD"/>
            </a:solidFill>
            <a:prstDash val="solid"/>
          </a:ln>
          <a:effectLst>
            <a:outerShdw blurRad="25400" dist="12700" dir="2700000" algn="bl" rotWithShape="0">
              <a:srgbClr val="2B2033">
                <a:alpha val="16000"/>
              </a:srgbClr>
            </a:outerShdw>
          </a:effectLst>
        </p:spPr>
      </p:sp>
      <p:pic>
        <p:nvPicPr>
          <p:cNvPr id="5" name="Image 0" descr="/mnt/data/generated_image_6538AA871964_04.png"/>
          <p:cNvPicPr>
            <a:picLocks noChangeAspect="1"/>
          </p:cNvPicPr>
          <p:nvPr/>
        </p:nvPicPr>
        <p:blipFill>
          <a:blip r:embed="rId3"/>
          <a:srcRect l="19048" r="19048"/>
          <a:stretch/>
        </p:blipFill>
        <p:spPr>
          <a:xfrm>
            <a:off x="640080" y="1417320"/>
            <a:ext cx="416052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38928" y="1463040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38928" y="1463040"/>
            <a:ext cx="82296" cy="1143000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58384" y="164592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Confidentiality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58384" y="2121408"/>
            <a:ext cx="5394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Only the student, authorized instructors, and approved staff can view protected records.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138928" y="2788920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38928" y="2788920"/>
            <a:ext cx="82296" cy="114300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58384" y="297180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Integrity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358384" y="3447288"/>
            <a:ext cx="5394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Grades change only through authorized workflows, with validation and audit evidence.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138928" y="4114800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38928" y="4114800"/>
            <a:ext cx="82296" cy="114300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58384" y="42976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Availability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58384" y="4773168"/>
            <a:ext cx="53949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Registration and learning services remain accessible, with capacity, backups, and recovery.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Can one control support more than one CIA goal? Give an example.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 user reaches a protected gradebook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Build 1 of 3: first prove the identity.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04672" y="157276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58F89"/>
                </a:solidFill>
              </a:rPr>
              <a:t>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874520" y="16824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033"/>
                </a:solidFill>
              </a:rPr>
              <a:t>Authentication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92808" y="23774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46A73"/>
                </a:solidFill>
              </a:rPr>
              <a:t>“Are you really the person you claim to be?”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58584" y="1289304"/>
            <a:ext cx="4416552" cy="4507992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12700">
            <a:solidFill>
              <a:srgbClr val="CBB0BD"/>
            </a:solidFill>
            <a:prstDash val="solid"/>
          </a:ln>
          <a:effectLst>
            <a:outerShdw blurRad="25400" dist="12700" dir="2700000" algn="bl" rotWithShape="0">
              <a:srgbClr val="2B2033">
                <a:alpha val="16000"/>
              </a:srgbClr>
            </a:outerShdw>
          </a:effectLst>
        </p:spPr>
      </p:sp>
      <p:pic>
        <p:nvPicPr>
          <p:cNvPr id="8" name="Image 0" descr="/mnt/data/generated_image_6538AA871964_03.png"/>
          <p:cNvPicPr>
            <a:picLocks noChangeAspect="1"/>
          </p:cNvPicPr>
          <p:nvPr/>
        </p:nvPicPr>
        <p:blipFill>
          <a:blip r:embed="rId3"/>
          <a:srcRect l="17354" r="17354"/>
          <a:stretch/>
        </p:blipFill>
        <p:spPr>
          <a:xfrm>
            <a:off x="6995160" y="1325880"/>
            <a:ext cx="4343400" cy="4434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" y="31546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3154680"/>
            <a:ext cx="82296" cy="1417320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333756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Real example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24128" y="3813048"/>
            <a:ext cx="52120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The portal checks a password and a one-time code before creating a session.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If a student knows a password, should the system automatically allow every action?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 user reaches a protected gradebook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Build 2 of 3: decide what the verified identity may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847088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D58F89"/>
          </a:solidFill>
          <a:ln w="1524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176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1. Authentication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0" y="2167128"/>
            <a:ext cx="594360" cy="502920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1847088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9C8199"/>
          </a:solidFill>
          <a:ln w="1524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21762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2. Authorization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60120" y="3429000"/>
            <a:ext cx="8641080" cy="1298448"/>
          </a:xfrm>
          <a:prstGeom prst="roundRect">
            <a:avLst>
              <a:gd name="adj" fmla="val 5634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429000"/>
            <a:ext cx="82296" cy="1298448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361188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Authorization example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9576" y="4087368"/>
            <a:ext cx="8229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An instructor may enter grades for assigned sections. A student may view personal grades, but cannot edit them.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Authentication asks “who?” Authorization asks which different question?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 user reaches a protected gradebook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Build 3 of 3: record actions so they can be traced.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773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CBC7"/>
                </a:solidFill>
              </a:rPr>
              <a:t>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37160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Authentication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3327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4F5"/>
                </a:solidFill>
              </a:rPr>
              <a:t>Verify identity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07992" y="160020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2584" y="1773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CBC7"/>
                </a:solidFill>
              </a:rPr>
              <a:t>2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16636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Authorization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82803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4F5"/>
                </a:solidFill>
              </a:rPr>
              <a:t>Apply permissions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02752" y="160020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7344" y="1773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2CBC7"/>
                </a:solidFill>
              </a:rPr>
              <a:t>3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96112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Accountability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22792" y="2514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4F5"/>
                </a:solidFill>
              </a:rPr>
              <a:t>Record who did what and when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4041648"/>
            <a:ext cx="1005840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041648"/>
            <a:ext cx="82296" cy="1115568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1016" y="422452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Accountability example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71016" y="4700016"/>
            <a:ext cx="9646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An audit record shows that a particular account changed a grade at 10:42, from a specific device, through an approved workflow.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Why are shared administrator accounts dangerous for accountability?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Threat, vulnerability, and attack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Do not use these three terms as if they mean the same 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BE8E5"/>
          </a:solidFill>
          <a:ln w="19050">
            <a:solidFill>
              <a:srgbClr val="D58F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2033"/>
                </a:solidFill>
              </a:rPr>
              <a:t>Threat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46A73"/>
                </a:solidFill>
              </a:rPr>
              <a:t>Possible source of harm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35224" y="2331720"/>
            <a:ext cx="38404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2E7ED"/>
          </a:solidFill>
          <a:ln w="19050">
            <a:solidFill>
              <a:srgbClr val="9C81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2033"/>
                </a:solidFill>
              </a:rPr>
              <a:t>Vulnerability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56616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46A73"/>
                </a:solidFill>
              </a:rPr>
              <a:t>Weakness that may be exploited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15584" y="2331720"/>
            <a:ext cx="38404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BE8E5"/>
          </a:solidFill>
          <a:ln w="19050">
            <a:solidFill>
              <a:srgbClr val="D58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2033"/>
                </a:solidFill>
              </a:rPr>
              <a:t>Attack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4652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46A73"/>
                </a:solidFill>
              </a:rPr>
              <a:t>Action that attempts exploitation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95944" y="2331720"/>
            <a:ext cx="38404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1874520"/>
            <a:ext cx="2331720" cy="1417320"/>
          </a:xfrm>
          <a:prstGeom prst="roundRect">
            <a:avLst>
              <a:gd name="adj" fmla="val 4516"/>
            </a:avLst>
          </a:prstGeom>
          <a:solidFill>
            <a:srgbClr val="F2E7ED"/>
          </a:solidFill>
          <a:ln w="19050">
            <a:solidFill>
              <a:srgbClr val="9C81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2148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B2033"/>
                </a:solidFill>
              </a:rPr>
              <a:t>Impact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326880" y="2633472"/>
            <a:ext cx="1965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46A73"/>
                </a:solidFill>
              </a:rPr>
              <a:t>Damage to the asset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977640"/>
            <a:ext cx="1033272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977640"/>
            <a:ext cx="82296" cy="1097280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41605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Example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3856" y="4636008"/>
            <a:ext cx="9921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Threat: criminal group → Vulnerability: reused password → Attack: credential login → Impact: grade data exposed or altered.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If no one exploits a weakness yet, is it still a vulnerability?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OSI security architecture: a common language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Organize the problem into attacks, services, and mechanisms.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105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F2CBC7"/>
                </a:solidFill>
              </a:rPr>
              <a:t>ATTACK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4048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can go wrong?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8992" y="3456432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5F5"/>
                </a:solidFill>
              </a:rPr>
              <a:t>Eavesdropping, replay, modification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07992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18105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F2CBC7"/>
                </a:solidFill>
              </a:rPr>
              <a:t>SERVICE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24048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protection is needed?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55464" y="3456432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5F5"/>
                </a:solidFill>
              </a:rPr>
              <a:t>Confidentiality, integrity, authentication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84464" y="150876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58784" y="18105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30" dirty="0">
                <a:solidFill>
                  <a:srgbClr val="F2CBC7"/>
                </a:solidFill>
              </a:rPr>
              <a:t>MECHANISM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04504" y="24048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is protection delivered?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31936" y="3456432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5F5"/>
                </a:solidFill>
              </a:rPr>
              <a:t>Encryption, signatures, access control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A security service says what; a mechanism says what different thing?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Passive attacks: observe without changing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The communication may continue normally, which makes detection difficult.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3504" y="1380744"/>
            <a:ext cx="5422392" cy="450799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CBB0BD"/>
            </a:solidFill>
            <a:prstDash val="solid"/>
          </a:ln>
          <a:effectLst>
            <a:outerShdw blurRad="25400" dist="12700" dir="2700000" algn="bl" rotWithShape="0">
              <a:srgbClr val="2B2033">
                <a:alpha val="16000"/>
              </a:srgbClr>
            </a:outerShdw>
          </a:effectLst>
        </p:spPr>
      </p:sp>
      <p:pic>
        <p:nvPicPr>
          <p:cNvPr id="5" name="Image 0" descr="/mnt/data/generated_image_6538AA871964_05.png"/>
          <p:cNvPicPr>
            <a:picLocks noChangeAspect="1"/>
          </p:cNvPicPr>
          <p:nvPr/>
        </p:nvPicPr>
        <p:blipFill>
          <a:blip r:embed="rId3"/>
          <a:srcRect l="9794" r="9794"/>
          <a:stretch/>
        </p:blipFill>
        <p:spPr>
          <a:xfrm>
            <a:off x="640080" y="1417320"/>
            <a:ext cx="534924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91072" y="1508760"/>
            <a:ext cx="484632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91072" y="1508760"/>
            <a:ext cx="82296" cy="1115568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0528" y="1691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Release of message contents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10528" y="2167128"/>
            <a:ext cx="4434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An attacker reads email, files, voice, or other protected communication.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91072" y="2834640"/>
            <a:ext cx="484632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91072" y="2834640"/>
            <a:ext cx="82296" cy="1115568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Traffic analysis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10528" y="3493008"/>
            <a:ext cx="4434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An attacker studies timing, volume, endpoints, and patterns even if content is encrypted.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91072" y="4160520"/>
            <a:ext cx="4846320" cy="1115568"/>
          </a:xfrm>
          <a:prstGeom prst="roundRect">
            <a:avLst>
              <a:gd name="adj" fmla="val 6557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91072" y="4160520"/>
            <a:ext cx="82296" cy="1115568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43434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Main defense idea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10528" y="4818888"/>
            <a:ext cx="4434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Emphasize prevention: encryption plus traffic protection where needed.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Can encryption hide every fact about a communication?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Active attacks: change or disrupt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Prevention matters, but rapid detection, containment, and recovery are also essential.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44752"/>
            <a:ext cx="82296" cy="15361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62763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Masquerade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" y="210312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Pretend to be another entity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stolen account sends a fake request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44475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444752"/>
            <a:ext cx="82296" cy="15361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62763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Replay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210312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Capture and resend valid data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old payment approval is sent again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331927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319272"/>
            <a:ext cx="82296" cy="15361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50215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Modification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5256" y="397764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Alter, reorder, delay, or delete messages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destination account is changed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319272"/>
            <a:ext cx="5138928" cy="1536192"/>
          </a:xfrm>
          <a:prstGeom prst="roundRect">
            <a:avLst>
              <a:gd name="adj" fmla="val 4762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319272"/>
            <a:ext cx="82296" cy="15361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3502152"/>
            <a:ext cx="4773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Denial of service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28816" y="3977640"/>
            <a:ext cx="472744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Reduce or block normal access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Example: registration portal is flooded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active attack can use a perfectly valid old message?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Replay attack: the message is valid, but the context is not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Animation sequence: capture → wait → resend → reject.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CEAE7"/>
          </a:solidFill>
          <a:ln w="17780">
            <a:solidFill>
              <a:srgbClr val="D58F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033"/>
                </a:solidFill>
              </a:rPr>
              <a:t>1. CAPTURE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696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46A73"/>
                </a:solidFill>
              </a:rPr>
              <a:t>Attacker records a valid request.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587752"/>
            <a:ext cx="42976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4E9EF"/>
          </a:solidFill>
          <a:ln w="17780">
            <a:solidFill>
              <a:srgbClr val="9C81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845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033"/>
                </a:solidFill>
              </a:rPr>
              <a:t>2. WAIT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2160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46A73"/>
                </a:solidFill>
              </a:rPr>
              <a:t>The original transaction completes.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2587752"/>
            <a:ext cx="42976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CEAE7"/>
          </a:solidFill>
          <a:ln w="17780">
            <a:solidFill>
              <a:srgbClr val="D58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033"/>
                </a:solidFill>
              </a:rPr>
              <a:t>3. RESEND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5624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46A73"/>
                </a:solidFill>
              </a:rPr>
              <a:t>The same request is transmitted again.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2587752"/>
            <a:ext cx="429768" cy="43891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182880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E4F1EC"/>
          </a:solidFill>
          <a:ln w="17780">
            <a:solidFill>
              <a:srgbClr val="3D7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20848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033"/>
                </a:solidFill>
              </a:rPr>
              <a:t>4. VERIFY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90888" y="2670048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46A73"/>
                </a:solidFill>
              </a:rPr>
              <a:t>Receiver checks freshness evidence.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88720" y="4370832"/>
            <a:ext cx="98298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88720" y="4370832"/>
            <a:ext cx="82296" cy="960120"/>
          </a:xfrm>
          <a:prstGeom prst="rect">
            <a:avLst/>
          </a:prstGeom>
          <a:solidFill>
            <a:srgbClr val="3D7660"/>
          </a:solidFill>
          <a:ln w="12700">
            <a:solidFill>
              <a:srgbClr val="3D76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4553712"/>
            <a:ext cx="946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Freshness controls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08176" y="5029200"/>
            <a:ext cx="94183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Nonces, timestamps, sequence numbers, and unique transaction identifiers help a receiver recognize duplicates.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Security services versus mechanisms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The service states the required protection. The mechanism delivers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8952" y="1417320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819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033"/>
                </a:solidFill>
              </a:rPr>
              <a:t>Confidentiality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0" y="1499616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417320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58191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033"/>
                </a:solidFill>
              </a:rPr>
              <a:t>Encryption, access control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" y="2249424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414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033"/>
                </a:solidFill>
              </a:rPr>
              <a:t>Integrity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0" y="2331720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249424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414016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033"/>
                </a:solidFill>
              </a:rPr>
              <a:t>MACs, hashes, digital signatures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58952" y="3081528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246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033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03520" y="3163824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081528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246120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033"/>
                </a:solidFill>
              </a:rPr>
              <a:t>Passwords, MFA, certificates, protocols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3913632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0782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033"/>
                </a:solidFill>
              </a:rPr>
              <a:t>Non-repudiation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03520" y="3995928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3913632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40782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033"/>
                </a:solidFill>
              </a:rPr>
              <a:t>Digital signatures, trusted evidence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58952" y="4745736"/>
            <a:ext cx="4343400" cy="594360"/>
          </a:xfrm>
          <a:prstGeom prst="roundRect">
            <a:avLst>
              <a:gd name="adj" fmla="val 7692"/>
            </a:avLst>
          </a:prstGeom>
          <a:solidFill>
            <a:srgbClr val="F1E7ED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10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033"/>
                </a:solidFill>
              </a:rPr>
              <a:t>Access control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03520" y="4828032"/>
            <a:ext cx="594360" cy="429768"/>
          </a:xfrm>
          <a:prstGeom prst="chevron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4745736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491032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033"/>
                </a:solidFill>
              </a:rPr>
              <a:t>Permissions, roles, policy enforcement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Is encryption always the right mechanism for every security service?</a:t>
            </a:r>
            <a:endParaRPr lang="en-US" sz="11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Basic network-security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Security requires protected communication, trusted keys, protocols, and operational controls.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21792" y="1335024"/>
            <a:ext cx="4873752" cy="4599432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CBB0BD"/>
            </a:solidFill>
            <a:prstDash val="solid"/>
          </a:ln>
          <a:effectLst>
            <a:outerShdw blurRad="25400" dist="12700" dir="2700000" algn="bl" rotWithShape="0">
              <a:srgbClr val="2B2033">
                <a:alpha val="16000"/>
              </a:srgbClr>
            </a:outerShdw>
          </a:effectLst>
        </p:spPr>
      </p:sp>
      <p:pic>
        <p:nvPicPr>
          <p:cNvPr id="5" name="Image 0" descr="/mnt/data/generated_image_6538AA871964_06.png"/>
          <p:cNvPicPr>
            <a:picLocks noChangeAspect="1"/>
          </p:cNvPicPr>
          <p:nvPr/>
        </p:nvPicPr>
        <p:blipFill>
          <a:blip r:embed="rId3"/>
          <a:srcRect l="14646" r="14646"/>
          <a:stretch/>
        </p:blipFill>
        <p:spPr>
          <a:xfrm>
            <a:off x="658368" y="1371600"/>
            <a:ext cx="48006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EFE5EB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033"/>
                </a:solidFill>
              </a:rPr>
              <a:t>Sender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059168" y="2203704"/>
            <a:ext cx="155448" cy="34747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2376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EFE5EB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033"/>
                </a:solidFill>
              </a:rPr>
              <a:t>Security transformation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67928" y="2203704"/>
            <a:ext cx="155448" cy="34747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3252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FCE6E3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033"/>
                </a:solidFill>
              </a:rPr>
              <a:t>Network / opponent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0076688" y="2203704"/>
            <a:ext cx="155448" cy="347472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41280" y="1901952"/>
            <a:ext cx="1298448" cy="987552"/>
          </a:xfrm>
          <a:prstGeom prst="roundRect">
            <a:avLst>
              <a:gd name="adj" fmla="val 5556"/>
            </a:avLst>
          </a:prstGeom>
          <a:solidFill>
            <a:srgbClr val="EFE5EB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0" y="2167128"/>
            <a:ext cx="1115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2033"/>
                </a:solidFill>
              </a:rPr>
              <a:t>Receiver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715000" y="3429000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15000" y="3429000"/>
            <a:ext cx="82296" cy="1389888"/>
          </a:xfrm>
          <a:prstGeom prst="rect">
            <a:avLst/>
          </a:prstGeom>
          <a:solidFill>
            <a:srgbClr val="2B2033"/>
          </a:solidFill>
          <a:ln w="12700">
            <a:solidFill>
              <a:srgbClr val="2B20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34456" y="36118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Trusted third party or key infrastructure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934456" y="4087368"/>
            <a:ext cx="5074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May distribute keys, certify identities, provide timestamps, or support trust decisions.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What happens if the cryptographic algorithm is strong but the key is stolen?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Security controls work before, during, and after incidents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A complete design uses layers rather than one “magic” product.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481328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792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Preventive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4128" y="248716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BC7"/>
                </a:solidFill>
              </a:rPr>
              <a:t>Reduce the chance of success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0704" y="3429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5F5"/>
                </a:solidFill>
              </a:rPr>
              <a:t>MFA, secure configuration, access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98848" y="1481328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1792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Detective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809744" y="248716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BC7"/>
                </a:solidFill>
              </a:rPr>
              <a:t>Discover suspicious activity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3429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5F5"/>
                </a:solidFill>
              </a:rPr>
              <a:t>Logging, monitoring, alerts, audits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84464" y="1481328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13064" y="17922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Corrective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595360" y="2487168"/>
            <a:ext cx="2624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CBC7"/>
                </a:solidFill>
              </a:rPr>
              <a:t>Limit damage and restore 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1936" y="342900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5F5"/>
                </a:solidFill>
              </a:rPr>
              <a:t>Isolation, patching, backups, recovery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Classify a backup as preventive, detective, or corrective. Could it support more than one role?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Risk connects security to decisions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A useful classroom model: risk depends on likelihood and impact.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4709160" cy="4251960"/>
          </a:xfrm>
          <a:prstGeom prst="roundRect">
            <a:avLst>
              <a:gd name="adj" fmla="val 1720"/>
            </a:avLst>
          </a:prstGeom>
          <a:solidFill>
            <a:srgbClr val="F4E9EF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2033"/>
                </a:solidFill>
              </a:rPr>
              <a:t>RISK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25880" y="2697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D58F89"/>
                </a:solidFill>
              </a:rPr>
              <a:t>Likelihood  ×  Impact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325880" y="3703320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46A73"/>
                </a:solidFill>
              </a:rPr>
              <a:t>Then choose a response: avoid, reduce, transfer/share, or accept.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7880" y="14173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97880" y="1417320"/>
            <a:ext cx="82296" cy="1417320"/>
          </a:xfrm>
          <a:prstGeom prst="rect">
            <a:avLst/>
          </a:prstGeom>
          <a:solidFill>
            <a:srgbClr val="A54854"/>
          </a:solidFill>
          <a:ln w="12700">
            <a:solidFill>
              <a:srgbClr val="A548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17336" y="1600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High impact / high likelihood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17336" y="20756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Act first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41080" y="14173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41080" y="1417320"/>
            <a:ext cx="82296" cy="141732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536" y="1600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High impact / low likelihood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60536" y="20756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Plan resilience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97880" y="32461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3246120"/>
            <a:ext cx="82296" cy="1417320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34290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Low impact / high likelihood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17336" y="39044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Automate control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41080" y="32461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41080" y="3246120"/>
            <a:ext cx="82296" cy="1417320"/>
          </a:xfrm>
          <a:prstGeom prst="rect">
            <a:avLst/>
          </a:prstGeom>
          <a:solidFill>
            <a:srgbClr val="3D7660"/>
          </a:solidFill>
          <a:ln w="12700">
            <a:solidFill>
              <a:srgbClr val="3D7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0536" y="34290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Low impact / low likelihood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60536" y="3904488"/>
            <a:ext cx="201168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Monitor / accept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is riskier: a frequent minor inconvenience or a rare life-safety failure?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Mini case: compromised student portal account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Work in pairs for 4 minutes.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04304" y="1289304"/>
            <a:ext cx="4325112" cy="4507992"/>
          </a:xfrm>
          <a:prstGeom prst="roundRect">
            <a:avLst>
              <a:gd name="adj" fmla="val 1480"/>
            </a:avLst>
          </a:prstGeom>
          <a:solidFill>
            <a:srgbClr val="FFFFFF"/>
          </a:solidFill>
          <a:ln w="12700">
            <a:solidFill>
              <a:srgbClr val="CBB0BD"/>
            </a:solidFill>
            <a:prstDash val="solid"/>
          </a:ln>
          <a:effectLst>
            <a:outerShdw blurRad="25400" dist="12700" dir="2700000" algn="bl" rotWithShape="0">
              <a:srgbClr val="2B2033">
                <a:alpha val="16000"/>
              </a:srgbClr>
            </a:outerShdw>
          </a:effectLst>
        </p:spPr>
      </p:sp>
      <p:pic>
        <p:nvPicPr>
          <p:cNvPr id="5" name="Image 0" descr="/mnt/data/generated_image_6538AA871964_03.png"/>
          <p:cNvPicPr>
            <a:picLocks noChangeAspect="1"/>
          </p:cNvPicPr>
          <p:nvPr/>
        </p:nvPicPr>
        <p:blipFill>
          <a:blip r:embed="rId3"/>
          <a:srcRect l="18041" r="18041"/>
          <a:stretch/>
        </p:blipFill>
        <p:spPr>
          <a:xfrm>
            <a:off x="7040880" y="1325880"/>
            <a:ext cx="425196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89888"/>
            <a:ext cx="5715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033"/>
                </a:solidFill>
              </a:rPr>
              <a:t>A student reuses a password. An attacker logs in, downloads personal information, changes a phone number, and requests a password reset for another service.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32688" y="28529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58F89"/>
                </a:solidFill>
              </a:rPr>
              <a:t>1. Identify the asset, threat, vulnerability, attack, and impact.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32688" y="34747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746A73"/>
                </a:solidFill>
              </a:rPr>
              <a:t>2. Which CIA goals were affected?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32688" y="40965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746A73"/>
                </a:solidFill>
              </a:rPr>
              <a:t>3. Which preventive, detective, and corrective controls would help?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32688" y="47183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746A73"/>
                </a:solidFill>
              </a:rPr>
              <a:t>4. What evidence supports accountability?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Case debrief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A strong answer connects concepts rather than listing products.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417320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Asset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075688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Identity and personal records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7648" y="14173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7648" y="1417320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47104" y="16002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Threat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47104" y="2075688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Account attacker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2807208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2807208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990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Vulnerability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3465576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Password reuse and weak account protection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27648" y="2807208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2807208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9900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Attack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47104" y="3465576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Masquerade using stolen credentials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3232" y="4197096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197096"/>
            <a:ext cx="82296" cy="1078992"/>
          </a:xfrm>
          <a:prstGeom prst="rect">
            <a:avLst/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CIA impact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485546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Confidentiality + integrity; possible availability impact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27648" y="4197096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>
              <a:alpha val="98000"/>
            </a:srgbClr>
          </a:solidFill>
          <a:ln w="13970">
            <a:solidFill>
              <a:srgbClr val="E4D1DA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27648" y="4197096"/>
            <a:ext cx="82296" cy="1078992"/>
          </a:xfrm>
          <a:prstGeom prst="rect">
            <a:avLst/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437997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033"/>
                </a:solidFill>
              </a:rPr>
              <a:t>Controls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47104" y="4855464"/>
            <a:ext cx="4709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746A73"/>
                </a:solidFill>
              </a:rPr>
              <a:t>MFA, alerts, session revocation, recovery, audit logs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Which single control would you prioritize first, and what residual risk remains?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Knowledge check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Answer individually, then defend the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2E8EF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58F89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17320" y="152704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33"/>
                </a:solidFill>
              </a:rPr>
              <a:t>A copied valid request is sent again later.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46920" y="1536192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20072" y="160020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Replay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404872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58F89"/>
                </a:solidFill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260604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33"/>
                </a:solidFill>
              </a:rPr>
              <a:t>A security goal says only authorized people may read data.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46920" y="2615184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20072" y="267919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" y="3483864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2E8EF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666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58F89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33"/>
                </a:solidFill>
              </a:rPr>
              <a:t>A log links an action to a specific account and time.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46920" y="3694176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9C8199"/>
          </a:solidFill>
          <a:ln w="12700">
            <a:solidFill>
              <a:srgbClr val="9C819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20072" y="375818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Accountability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4562856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FCEAE7"/>
          </a:solidFill>
          <a:ln w="12700">
            <a:solidFill>
              <a:srgbClr val="E4D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457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58F89"/>
                </a:solidFill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417320" y="476402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33"/>
                </a:solidFill>
              </a:rPr>
              <a:t>A control restores data after ransomware.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46920" y="4773168"/>
            <a:ext cx="1828800" cy="356616"/>
          </a:xfrm>
          <a:prstGeom prst="roundRect">
            <a:avLst>
              <a:gd name="adj" fmla="val 20513"/>
            </a:avLst>
          </a:prstGeom>
          <a:solidFill>
            <a:srgbClr val="D58F89"/>
          </a:solidFill>
          <a:ln w="12700">
            <a:solidFill>
              <a:srgbClr val="D58F89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20072" y="483717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Corrective control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57150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46A73"/>
                </a:solidFill>
              </a:rPr>
              <a:t>Instructor tip: cover the answer pills before discussion, or duplicate this slide and remove them for prediction-first delivery.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6126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B2033"/>
                </a:solidFill>
              </a:rPr>
              <a:t>Chapter 1 concept map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14300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46A73"/>
                </a:solidFill>
              </a:rPr>
              <a:t>Start from assets, analyze risk, and select layered protection.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Assets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3F4"/>
                </a:solidFill>
              </a:rPr>
              <a:t>What matters?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5059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4436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3F4"/>
                </a:solidFill>
              </a:rPr>
              <a:t>CIA + AAA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8231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D58F8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Adversity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7608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3F4"/>
                </a:solidFill>
              </a:rPr>
              <a:t>Threats, vulnerabilities, attacks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1403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9C8199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4380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0780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3F4"/>
                </a:solidFill>
              </a:rPr>
              <a:t>Services, mechanisms, controls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45752" y="2615184"/>
            <a:ext cx="256032" cy="420624"/>
          </a:xfrm>
          <a:prstGeom prst="chevron">
            <a:avLst/>
          </a:prstGeom>
          <a:solidFill>
            <a:srgbClr val="CBB0BD"/>
          </a:solidFill>
          <a:ln w="12700">
            <a:solidFill>
              <a:srgbClr val="CBB0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1920240"/>
            <a:ext cx="1993392" cy="1965960"/>
          </a:xfrm>
          <a:prstGeom prst="roundRect">
            <a:avLst>
              <a:gd name="adj" fmla="val 3721"/>
            </a:avLst>
          </a:prstGeom>
          <a:solidFill>
            <a:srgbClr val="2B2033"/>
          </a:solidFill>
          <a:ln w="12700">
            <a:solidFill>
              <a:srgbClr val="FFFFFF"/>
            </a:solidFill>
            <a:prstDash val="solid"/>
          </a:ln>
          <a:effectLst>
            <a:outerShdw blurRad="25400" dist="12700" dir="2700000" algn="bl" rotWithShape="0">
              <a:srgbClr val="2B203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0" y="22402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39528" y="289864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3F4"/>
                </a:solidFill>
              </a:rPr>
              <a:t>Policy, risk, monitoring, recovery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5925312"/>
            <a:ext cx="10844784" cy="420624"/>
          </a:xfrm>
          <a:prstGeom prst="roundRect">
            <a:avLst>
              <a:gd name="adj" fmla="val 13043"/>
            </a:avLst>
          </a:prstGeom>
          <a:solidFill>
            <a:srgbClr val="F6E6E8"/>
          </a:solidFill>
          <a:ln w="12700">
            <a:solidFill>
              <a:srgbClr val="F2CB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604418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2033"/>
                </a:solidFill>
              </a:rPr>
              <a:t>PREDICT  →  Choose one system and explain the full chain from asset to control.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46A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6538AA871964_07.png"/>
          <p:cNvPicPr>
            <a:picLocks noChangeAspect="1"/>
          </p:cNvPicPr>
          <p:nvPr/>
        </p:nvPicPr>
        <p:blipFill>
          <a:blip r:embed="rId3"/>
          <a:srcRect l="17867" r="17867"/>
          <a:stretch/>
        </p:blipFill>
        <p:spPr>
          <a:xfrm>
            <a:off x="5577840" y="0"/>
            <a:ext cx="6611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83480" y="0"/>
            <a:ext cx="7205472" cy="6858000"/>
          </a:xfrm>
          <a:prstGeom prst="rect">
            <a:avLst/>
          </a:prstGeom>
          <a:solidFill>
            <a:srgbClr val="2B2033">
              <a:alpha val="55000"/>
            </a:srgbClr>
          </a:solidFill>
          <a:ln w="12700">
            <a:solidFill>
              <a:srgbClr val="2B20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80" dirty="0">
                <a:solidFill>
                  <a:srgbClr val="F2CBC7"/>
                </a:solidFill>
              </a:rPr>
              <a:t>EXIT TICKET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325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Before you leave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77240" y="2240280"/>
            <a:ext cx="43891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4F5"/>
                </a:solidFill>
              </a:rPr>
              <a:t>1. Explain the difference between a security service and a mechanism.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4F5"/>
                </a:solidFill>
              </a:rPr>
              <a:t>2. Give one passive attack and one active attack.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4F5"/>
                </a:solidFill>
              </a:rPr>
              <a:t>3. Choose one control for a university portal and explain which risk it reduces.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5989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58F89"/>
                </a:solidFill>
              </a:rPr>
              <a:t>Next: Fundamentals of Cryptography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24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Security and Cryptography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Presentation</dc:title>
  <dc:subject>Chapter 1 - Introduction to Information Security</dc:subject>
  <dc:creator>Gehad Taher</dc:creator>
  <cp:lastModifiedBy>Gehad Taher</cp:lastModifiedBy>
  <cp:revision>2</cp:revision>
  <dcterms:created xsi:type="dcterms:W3CDTF">2026-09-25T15:38:38Z</dcterms:created>
  <dcterms:modified xsi:type="dcterms:W3CDTF">2026-09-25T15:43:01Z</dcterms:modified>
</cp:coreProperties>
</file>